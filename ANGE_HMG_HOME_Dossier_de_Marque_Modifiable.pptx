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7560056" cy="10692003"/>
  <p:notesSz cx="10692003" cy="75600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774700"/>
            <a:ext cx="6925056" cy="17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3"/>
              </a:lnSpc>
              <a:buNone/>
            </a:pPr>
            <a:r>
              <a:rPr lang="en-US" sz="75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OFFICIEL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2705100"/>
            <a:ext cx="6925056" cy="1138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2"/>
              </a:lnSpc>
              <a:buNone/>
            </a:pPr>
            <a:r>
              <a:rPr lang="en-US" sz="45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DOSSIER</a:t>
            </a:r>
            <a:endParaRPr lang="en-US" sz="4500" dirty="0"/>
          </a:p>
          <a:p>
            <a:pPr algn="l" indent="0" marL="0">
              <a:lnSpc>
                <a:spcPts val="4322"/>
              </a:lnSpc>
              <a:buNone/>
            </a:pPr>
            <a:r>
              <a:rPr lang="en-US" sz="45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MARQUE</a:t>
            </a:r>
            <a:endParaRPr lang="en-US" sz="45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4406900"/>
            <a:ext cx="3429000" cy="599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97"/>
              </a:lnSpc>
              <a:buNone/>
            </a:pPr>
            <a:r>
              <a:rPr lang="en-US" sz="1700" dirty="0">
                <a:solidFill>
                  <a:srgbClr val="EDE1D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Une allure ancrée dans la terre béninoise, dessinée pour durer.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33400" y="58039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ÉDITION 2026</a:t>
            </a:r>
            <a:endParaRPr lang="en-US" sz="71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6070600"/>
            <a:ext cx="6925056" cy="181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4"/>
              </a:lnSpc>
              <a:buNone/>
            </a:pPr>
            <a:r>
              <a:rPr lang="en-US" sz="760" b="1" spc="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CLASSIQUE · MODERNE · TRADITIONNEL</a:t>
            </a:r>
            <a:endParaRPr lang="en-US" sz="760" dirty="0"/>
          </a:p>
        </p:txBody>
      </p:sp>
      <p:sp>
        <p:nvSpPr>
          <p:cNvPr id="8" name="Text 5"/>
          <p:cNvSpPr txBox="1"/>
          <p:nvPr/>
        </p:nvSpPr>
        <p:spPr>
          <a:xfrm>
            <a:off x="774700" y="7823200"/>
            <a:ext cx="6683756" cy="263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7"/>
              </a:lnSpc>
              <a:buNone/>
            </a:pPr>
            <a:r>
              <a:rPr lang="en-US" sz="1300" b="1" spc="10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HMG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6100" y="8597900"/>
            <a:ext cx="6912356" cy="15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6"/>
              </a:lnSpc>
              <a:buNone/>
            </a:pPr>
            <a:r>
              <a:rPr lang="en-US" sz="610" b="1" spc="11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HOUEMAGNON</a:t>
            </a:r>
            <a:endParaRPr lang="en-US" sz="610" dirty="0"/>
          </a:p>
        </p:txBody>
      </p:sp>
      <p:sp>
        <p:nvSpPr>
          <p:cNvPr id="10" name="Text 7"/>
          <p:cNvSpPr txBox="1"/>
          <p:nvPr/>
        </p:nvSpPr>
        <p:spPr>
          <a:xfrm>
            <a:off x="533400" y="9601200"/>
            <a:ext cx="6925056" cy="170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1"/>
              </a:lnSpc>
              <a:buNone/>
            </a:pPr>
            <a:r>
              <a:rPr lang="en-US" sz="710" dirty="0">
                <a:solidFill>
                  <a:srgbClr val="E6D9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Atelier Tankpè, Abomey-Calavi · Bénin</a:t>
            </a:r>
            <a:endParaRPr lang="en-US" sz="710" dirty="0"/>
          </a:p>
        </p:txBody>
      </p:sp>
      <p:sp>
        <p:nvSpPr>
          <p:cNvPr id="11" name="Text 8"/>
          <p:cNvSpPr txBox="1"/>
          <p:nvPr/>
        </p:nvSpPr>
        <p:spPr>
          <a:xfrm>
            <a:off x="533400" y="98171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42 65 66 61  ·  @Ange_hmg_home</a:t>
            </a:r>
            <a:endParaRPr lang="en-US" sz="710" dirty="0"/>
          </a:p>
        </p:txBody>
      </p:sp>
      <p:sp>
        <p:nvSpPr>
          <p:cNvPr id="12" name="Text 9"/>
          <p:cNvSpPr txBox="1"/>
          <p:nvPr/>
        </p:nvSpPr>
        <p:spPr>
          <a:xfrm>
            <a:off x="6594856" y="9917303"/>
            <a:ext cx="863600" cy="183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800" spc="12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MAISON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3175000" cy="900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3"/>
              </a:lnSpc>
              <a:buNone/>
            </a:pPr>
            <a:r>
              <a:rPr lang="en-US" sz="3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Une maison,</a:t>
            </a:r>
            <a:endParaRPr lang="en-US" sz="3300" dirty="0"/>
          </a:p>
          <a:p>
            <a:pPr algn="l" indent="0" marL="0">
              <a:lnSpc>
                <a:spcPts val="3383"/>
              </a:lnSpc>
              <a:buNone/>
            </a:pPr>
            <a:r>
              <a:rPr lang="en-US" sz="3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une racine.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02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4508500" y="1409700"/>
            <a:ext cx="508000" cy="157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4"/>
              </a:lnSpc>
              <a:buNone/>
            </a:pPr>
            <a:r>
              <a:rPr lang="en-US" sz="600" b="1" spc="10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BÉNIN</a:t>
            </a:r>
            <a:endParaRPr lang="en-US" sz="600" dirty="0"/>
          </a:p>
        </p:txBody>
      </p:sp>
      <p:sp>
        <p:nvSpPr>
          <p:cNvPr id="8" name="Text 5"/>
          <p:cNvSpPr txBox="1"/>
          <p:nvPr/>
        </p:nvSpPr>
        <p:spPr>
          <a:xfrm>
            <a:off x="533400" y="2425700"/>
            <a:ext cx="3149600" cy="1123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55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ANGE HMG HOME célèbre les silhouettes qui ont de la présence : une élégance naturellement affirmée, pensée pour les moments qui comptent.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533400" y="47117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NOTRE PROMESSE</a:t>
            </a:r>
            <a:endParaRPr lang="en-US" sz="710" dirty="0"/>
          </a:p>
        </p:txBody>
      </p:sp>
      <p:sp>
        <p:nvSpPr>
          <p:cNvPr id="10" name="Text 7"/>
          <p:cNvSpPr txBox="1"/>
          <p:nvPr/>
        </p:nvSpPr>
        <p:spPr>
          <a:xfrm>
            <a:off x="533400" y="5041900"/>
            <a:ext cx="2921000" cy="1108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2"/>
              </a:lnSpc>
              <a:buNone/>
            </a:pPr>
            <a:r>
              <a:rPr lang="en-US" sz="26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Confort.</a:t>
            </a:r>
            <a:endParaRPr lang="en-US" sz="2600" dirty="0"/>
          </a:p>
          <a:p>
            <a:pPr algn="l" indent="0" marL="0">
              <a:lnSpc>
                <a:spcPts val="2802"/>
              </a:lnSpc>
              <a:buNone/>
            </a:pPr>
            <a:r>
              <a:rPr lang="en-US" sz="26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Durabilité.</a:t>
            </a:r>
            <a:endParaRPr lang="en-US" sz="2600" dirty="0"/>
          </a:p>
          <a:p>
            <a:pPr algn="l" indent="0" marL="0">
              <a:lnSpc>
                <a:spcPts val="2802"/>
              </a:lnSpc>
              <a:buNone/>
            </a:pPr>
            <a:r>
              <a:rPr lang="en-US" sz="26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Haute gamme.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533400" y="6680200"/>
            <a:ext cx="2984500" cy="573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8"/>
              </a:lnSpc>
              <a:buNone/>
            </a:pPr>
            <a:r>
              <a:rPr lang="en-US" sz="95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pièce est conçue pour accompagner le mouvement, honorer la personne qui la porte et garder sa tenue au fil du temps.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419600" y="7340600"/>
            <a:ext cx="30388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MANIFESTE</a:t>
            </a:r>
            <a:endParaRPr lang="en-US" sz="710" dirty="0"/>
          </a:p>
        </p:txBody>
      </p:sp>
      <p:sp>
        <p:nvSpPr>
          <p:cNvPr id="13" name="Text 10"/>
          <p:cNvSpPr txBox="1"/>
          <p:nvPr/>
        </p:nvSpPr>
        <p:spPr>
          <a:xfrm>
            <a:off x="4419600" y="7670800"/>
            <a:ext cx="2222500" cy="630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Créer avec exigence, porter avec assurance.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CODES HMG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53340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4"/>
              </a:lnSpc>
              <a:buNone/>
            </a:pPr>
            <a:r>
              <a:rPr lang="en-US" sz="34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Notre empreinte.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03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876300" y="3352800"/>
            <a:ext cx="6582156" cy="17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3"/>
              </a:lnSpc>
              <a:buNone/>
            </a:pPr>
            <a:r>
              <a:rPr lang="en-US" sz="750" b="1" spc="11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HMG = HOUEMAGNON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76300" y="3708400"/>
            <a:ext cx="1790700" cy="497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95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 nom porté comme une signature.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3594100" y="2006600"/>
            <a:ext cx="38643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COULEUR, UNE MÉMOIRE</a:t>
            </a:r>
            <a:endParaRPr lang="en-US" sz="710" dirty="0"/>
          </a:p>
        </p:txBody>
      </p:sp>
      <p:sp>
        <p:nvSpPr>
          <p:cNvPr id="10" name="Text 7"/>
          <p:cNvSpPr txBox="1"/>
          <p:nvPr/>
        </p:nvSpPr>
        <p:spPr>
          <a:xfrm>
            <a:off x="3594100" y="2349500"/>
            <a:ext cx="3111500" cy="1208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7"/>
              </a:lnSpc>
              <a:buNone/>
            </a:pPr>
            <a:r>
              <a:rPr lang="en-US" sz="17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 marron #3E2723 évoque la terre du Bénin : notre origine, notre stabilité, notre point de départ.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94100" y="3606800"/>
            <a:ext cx="3073400" cy="57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6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HMG est aussi un hommage à Lydwine HOUÉMAGNON, la mère du fondateur. Une maison guidée par un héritage de valeurs et de transmission.</a:t>
            </a:r>
            <a:endParaRPr lang="en-US" sz="960" dirty="0"/>
          </a:p>
        </p:txBody>
      </p:sp>
      <p:sp>
        <p:nvSpPr>
          <p:cNvPr id="12" name="Text 9"/>
          <p:cNvSpPr txBox="1"/>
          <p:nvPr/>
        </p:nvSpPr>
        <p:spPr>
          <a:xfrm>
            <a:off x="533400" y="53340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TROIS VALEURS</a:t>
            </a:r>
            <a:endParaRPr lang="en-US" sz="710" dirty="0"/>
          </a:p>
        </p:txBody>
      </p:sp>
      <p:sp>
        <p:nvSpPr>
          <p:cNvPr id="13" name="Text 10"/>
          <p:cNvSpPr txBox="1"/>
          <p:nvPr/>
        </p:nvSpPr>
        <p:spPr>
          <a:xfrm>
            <a:off x="723900" y="5943600"/>
            <a:ext cx="6734556" cy="172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3"/>
              </a:lnSpc>
              <a:buNone/>
            </a:pPr>
            <a:r>
              <a:rPr lang="en-US" sz="700" b="1" spc="13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00" dirty="0"/>
          </a:p>
        </p:txBody>
      </p:sp>
      <p:sp>
        <p:nvSpPr>
          <p:cNvPr id="14" name="Text 11"/>
          <p:cNvSpPr txBox="1"/>
          <p:nvPr/>
        </p:nvSpPr>
        <p:spPr>
          <a:xfrm>
            <a:off x="723900" y="6400800"/>
            <a:ext cx="1511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2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Élégance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23900" y="6985000"/>
            <a:ext cx="1498600" cy="338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1"/>
              </a:lnSpc>
              <a:buNone/>
            </a:pPr>
            <a:r>
              <a:rPr lang="en-US" sz="840" dirty="0">
                <a:solidFill>
                  <a:srgbClr val="E6D9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lignes justes, une allure qui reste.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2908300" y="5943600"/>
            <a:ext cx="4550156" cy="172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3"/>
              </a:lnSpc>
              <a:buNone/>
            </a:pPr>
            <a:r>
              <a:rPr lang="en-US" sz="700" b="1" spc="130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00" dirty="0"/>
          </a:p>
        </p:txBody>
      </p:sp>
      <p:sp>
        <p:nvSpPr>
          <p:cNvPr id="17" name="Text 14"/>
          <p:cNvSpPr txBox="1"/>
          <p:nvPr/>
        </p:nvSpPr>
        <p:spPr>
          <a:xfrm>
            <a:off x="2908300" y="6400800"/>
            <a:ext cx="1511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2"/>
              </a:lnSpc>
              <a:buNone/>
            </a:pPr>
            <a:r>
              <a:rPr lang="en-US" sz="20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Adaptable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908300" y="6985000"/>
            <a:ext cx="1498600" cy="338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1"/>
              </a:lnSpc>
              <a:buNone/>
            </a:pPr>
            <a:r>
              <a:rPr lang="en-US" sz="84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pièces au service de chaque personnalité.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5092700" y="5943600"/>
            <a:ext cx="2365756" cy="172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3"/>
              </a:lnSpc>
              <a:buNone/>
            </a:pPr>
            <a:r>
              <a:rPr lang="en-US" sz="700" b="1" spc="130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5092700" y="6400800"/>
            <a:ext cx="1511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2"/>
              </a:lnSpc>
              <a:buNone/>
            </a:pPr>
            <a:r>
              <a:rPr lang="en-US" sz="20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Impeccable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5092700" y="6985000"/>
            <a:ext cx="1498600" cy="338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1"/>
              </a:lnSpc>
              <a:buNone/>
            </a:pPr>
            <a:r>
              <a:rPr lang="en-US" sz="84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précision comme standard, jusque dans la finition.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469900" y="8547100"/>
            <a:ext cx="6988556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2"/>
              </a:lnSpc>
              <a:buNone/>
            </a:pPr>
            <a:r>
              <a:rPr lang="en-US" sz="4500" dirty="0">
                <a:solidFill>
                  <a:srgbClr val="B68A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</a:t>
            </a:r>
            <a:endParaRPr lang="en-US" sz="4500" dirty="0"/>
          </a:p>
        </p:txBody>
      </p:sp>
      <p:sp>
        <p:nvSpPr>
          <p:cNvPr id="23" name="Text 20"/>
          <p:cNvSpPr txBox="1"/>
          <p:nvPr/>
        </p:nvSpPr>
        <p:spPr>
          <a:xfrm>
            <a:off x="762000" y="8699500"/>
            <a:ext cx="4572000" cy="32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9"/>
              </a:lnSpc>
              <a:buNone/>
            </a:pPr>
            <a:r>
              <a:rPr lang="en-US" sz="18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Notre terre nous ancre. Notre travail nous élève.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TROIS SIGNATURES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4572000" cy="872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71"/>
              </a:lnSpc>
              <a:buNone/>
            </a:pPr>
            <a:r>
              <a:rPr lang="en-US" sz="32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 essentiels</a:t>
            </a:r>
            <a:endParaRPr lang="en-US" sz="3200" dirty="0"/>
          </a:p>
          <a:p>
            <a:pPr algn="l" indent="0" marL="0">
              <a:lnSpc>
                <a:spcPts val="3271"/>
              </a:lnSpc>
              <a:buNone/>
            </a:pPr>
            <a:r>
              <a:rPr lang="en-US" sz="32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la maison.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04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1943100"/>
            <a:ext cx="4762500" cy="399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6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pièces phares qui traduisent la vision HMG : le confort dans la coupe, la présence dans le détail et la tenue dans le temps.</a:t>
            </a:r>
            <a:endParaRPr lang="en-US" sz="96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943600"/>
            <a:ext cx="67726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2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4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718300"/>
            <a:ext cx="1727200" cy="4551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55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Ensemble homme</a:t>
            </a:r>
            <a:endParaRPr lang="en-US" sz="155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55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tissu crêpe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7353300"/>
            <a:ext cx="1727200" cy="17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9"/>
              </a:lnSpc>
              <a:buNone/>
            </a:pPr>
            <a:r>
              <a:rPr lang="en-US" sz="76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Souple, posé, résolument distingué.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2908300" y="5943600"/>
            <a:ext cx="45501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2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40" dirty="0"/>
          </a:p>
        </p:txBody>
      </p:sp>
      <p:sp>
        <p:nvSpPr>
          <p:cNvPr id="12" name="Text 9"/>
          <p:cNvSpPr txBox="1"/>
          <p:nvPr/>
        </p:nvSpPr>
        <p:spPr>
          <a:xfrm>
            <a:off x="2908300" y="6718300"/>
            <a:ext cx="1727200" cy="4551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55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Pantalon classique</a:t>
            </a:r>
            <a:endParaRPr lang="en-US" sz="155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55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homme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2908300" y="7353300"/>
            <a:ext cx="1727200" cy="315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9"/>
              </a:lnSpc>
              <a:buNone/>
            </a:pPr>
            <a:r>
              <a:rPr lang="en-US" sz="76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nette pour le quotidien et les grands jours.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5130800" y="5943600"/>
            <a:ext cx="23276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2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40" dirty="0"/>
          </a:p>
        </p:txBody>
      </p:sp>
      <p:sp>
        <p:nvSpPr>
          <p:cNvPr id="15" name="Text 12"/>
          <p:cNvSpPr txBox="1"/>
          <p:nvPr/>
        </p:nvSpPr>
        <p:spPr>
          <a:xfrm>
            <a:off x="5130800" y="6718300"/>
            <a:ext cx="1727200" cy="4551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55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Robe droite</a:t>
            </a:r>
            <a:endParaRPr lang="en-US" sz="155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55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tissu stretch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5130800" y="7353300"/>
            <a:ext cx="1727200" cy="315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9"/>
              </a:lnSpc>
              <a:buNone/>
            </a:pPr>
            <a:r>
              <a:rPr lang="en-US" sz="76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Épouser la silhouette, libérer le mouvement.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533400" y="8496300"/>
            <a:ext cx="6925056" cy="172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3"/>
              </a:lnSpc>
              <a:buNone/>
            </a:pPr>
            <a:r>
              <a:rPr lang="en-US" sz="700" b="1" spc="165" kern="0" dirty="0">
                <a:solidFill>
                  <a:srgbClr val="3E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PIÈCE HMG, C’EST UNE PIÈCE QUI TRAVAILLE POUR VOUS.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CÉRÉMONIES &amp; MOMENTS FORTS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4191000" cy="872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71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 sur-mesure</a:t>
            </a:r>
            <a:endParaRPr lang="en-US" sz="3200" dirty="0"/>
          </a:p>
          <a:p>
            <a:pPr algn="l" indent="0" marL="0">
              <a:lnSpc>
                <a:spcPts val="3271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comme évidence.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D9CB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D9CB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05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78232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CELLES ET CEUX QUI MARQUENT LEUR PASSAGE</a:t>
            </a:r>
            <a:endParaRPr lang="en-US" sz="710" dirty="0"/>
          </a:p>
        </p:txBody>
      </p:sp>
      <p:sp>
        <p:nvSpPr>
          <p:cNvPr id="8" name="Text 5"/>
          <p:cNvSpPr txBox="1"/>
          <p:nvPr/>
        </p:nvSpPr>
        <p:spPr>
          <a:xfrm>
            <a:off x="533400" y="8191500"/>
            <a:ext cx="6032500" cy="599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9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Mariage civil ou religieux, dot, réception : HMG accompagne les cérémonies avec des silhouettes à la hauteur de l’histoire.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FEMME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3810000" cy="872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71"/>
              </a:lnSpc>
              <a:buNone/>
            </a:pPr>
            <a:r>
              <a:rPr lang="en-US" sz="32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ligne épouse</a:t>
            </a:r>
            <a:endParaRPr lang="en-US" sz="3200" dirty="0"/>
          </a:p>
          <a:p>
            <a:pPr algn="l" indent="0" marL="0">
              <a:lnSpc>
                <a:spcPts val="3271"/>
              </a:lnSpc>
              <a:buNone/>
            </a:pPr>
            <a:r>
              <a:rPr lang="en-US" sz="32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personnalité.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06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24638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FÉMINITÉ EN MOUVEMENT</a:t>
            </a:r>
            <a:endParaRPr lang="en-US" sz="710" dirty="0"/>
          </a:p>
        </p:txBody>
      </p:sp>
      <p:sp>
        <p:nvSpPr>
          <p:cNvPr id="8" name="Text 5"/>
          <p:cNvSpPr txBox="1"/>
          <p:nvPr/>
        </p:nvSpPr>
        <p:spPr>
          <a:xfrm>
            <a:off x="533400" y="2832100"/>
            <a:ext cx="3098800" cy="1208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7"/>
              </a:lnSpc>
              <a:buNone/>
            </a:pPr>
            <a:r>
              <a:rPr lang="en-US" sz="17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la robe structurée à la tenue de cérémonie, chaque construction cherche l’équilibre entre maintien, aisance et lumière.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33400" y="4800600"/>
            <a:ext cx="2743200" cy="39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7"/>
              </a:lnSpc>
              <a:buNone/>
            </a:pPr>
            <a:r>
              <a:rPr lang="en-US" sz="94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vêtement n’impose pas une façon d’être : il révèle une présence.</a:t>
            </a:r>
            <a:endParaRPr lang="en-US" sz="940" dirty="0"/>
          </a:p>
        </p:txBody>
      </p:sp>
      <p:sp>
        <p:nvSpPr>
          <p:cNvPr id="10" name="Text 7"/>
          <p:cNvSpPr txBox="1"/>
          <p:nvPr/>
        </p:nvSpPr>
        <p:spPr>
          <a:xfrm>
            <a:off x="533400" y="8966200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65" kern="0" dirty="0">
                <a:solidFill>
                  <a:srgbClr val="3E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 DROITE STRETCH · TENUES DE CÉRÉMONIE · PIÈCES SUR MESURE</a:t>
            </a:r>
            <a:endParaRPr lang="en-US" sz="6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HOMME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4064000" cy="900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3"/>
              </a:lnSpc>
              <a:buNone/>
            </a:pPr>
            <a:r>
              <a:rPr lang="en-US" sz="3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L’assurance</a:t>
            </a:r>
            <a:endParaRPr lang="en-US" sz="3300" dirty="0"/>
          </a:p>
          <a:p>
            <a:pPr algn="l" indent="0" marL="0">
              <a:lnSpc>
                <a:spcPts val="3383"/>
              </a:lnSpc>
              <a:buNone/>
            </a:pPr>
            <a:r>
              <a:rPr lang="en-US" sz="3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dans la coupe.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07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4305300" y="2768600"/>
            <a:ext cx="31531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VESTIAIRE HMG</a:t>
            </a:r>
            <a:endParaRPr lang="en-US" sz="710" dirty="0"/>
          </a:p>
        </p:txBody>
      </p:sp>
      <p:sp>
        <p:nvSpPr>
          <p:cNvPr id="8" name="Text 5"/>
          <p:cNvSpPr txBox="1"/>
          <p:nvPr/>
        </p:nvSpPr>
        <p:spPr>
          <a:xfrm>
            <a:off x="4305300" y="3162300"/>
            <a:ext cx="2387600" cy="1157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9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Classique ou traditionnel, le même parti pris : une posture nette et une élégance sans effort.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69900" y="7721600"/>
            <a:ext cx="6988556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2"/>
              </a:lnSpc>
              <a:buNone/>
            </a:pPr>
            <a:r>
              <a:rPr lang="en-US" sz="4500" dirty="0">
                <a:solidFill>
                  <a:srgbClr val="B68A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</a:t>
            </a:r>
            <a:endParaRPr lang="en-US" sz="4500" dirty="0"/>
          </a:p>
        </p:txBody>
      </p:sp>
      <p:sp>
        <p:nvSpPr>
          <p:cNvPr id="10" name="Text 7"/>
          <p:cNvSpPr txBox="1"/>
          <p:nvPr/>
        </p:nvSpPr>
        <p:spPr>
          <a:xfrm>
            <a:off x="762000" y="7874000"/>
            <a:ext cx="5461000" cy="658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2"/>
              </a:lnSpc>
              <a:buNone/>
            </a:pPr>
            <a:r>
              <a:rPr lang="en-US" sz="20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Une allure qui vous ressemble, un tombé qui se remarque.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33400" y="9080500"/>
            <a:ext cx="6925056" cy="164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4"/>
              </a:lnSpc>
              <a:buNone/>
            </a:pPr>
            <a:r>
              <a:rPr lang="en-US" sz="650" b="1" spc="165" kern="0" dirty="0">
                <a:solidFill>
                  <a:srgbClr val="3E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ENSEMBLES HOMME · PANTALONS CLASSIQUES · TENUES D’APPARAT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SAVOIR-FAIRE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4191000" cy="928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4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 détail</a:t>
            </a:r>
            <a:endParaRPr lang="en-US" sz="3400" dirty="0"/>
          </a:p>
          <a:p>
            <a:pPr algn="l" indent="0" marL="0">
              <a:lnSpc>
                <a:spcPts val="3494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fait la différence.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D9CB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D9CB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08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72771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PRÉCISION EST NOTRE LANGAGE</a:t>
            </a:r>
            <a:endParaRPr lang="en-US" sz="710" dirty="0"/>
          </a:p>
        </p:txBody>
      </p:sp>
      <p:sp>
        <p:nvSpPr>
          <p:cNvPr id="8" name="Text 5"/>
          <p:cNvSpPr txBox="1"/>
          <p:nvPr/>
        </p:nvSpPr>
        <p:spPr>
          <a:xfrm>
            <a:off x="533400" y="7683500"/>
            <a:ext cx="5969000" cy="878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97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Finesse, justesse des proportions, attention aux finitions : HMG transforme le tissu en une signature que l’on voit de près comme de loin.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33400" y="9499600"/>
            <a:ext cx="6925056" cy="175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7"/>
              </a:lnSpc>
              <a:buNone/>
            </a:pPr>
            <a:r>
              <a:rPr lang="en-US" sz="720" b="1" spc="12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Confort  /  Durabilité  /  Haute gamme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HISTOIRE FORTE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4064000" cy="872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71"/>
              </a:lnSpc>
              <a:buNone/>
            </a:pPr>
            <a:r>
              <a:rPr lang="en-US" sz="32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Une saison,</a:t>
            </a:r>
            <a:endParaRPr lang="en-US" sz="3200" dirty="0"/>
          </a:p>
          <a:p>
            <a:pPr algn="l" indent="0" marL="0">
              <a:lnSpc>
                <a:spcPts val="3271"/>
              </a:lnSpc>
              <a:buNone/>
            </a:pPr>
            <a:r>
              <a:rPr lang="en-US" sz="32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quinze tenues.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09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22352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MARIAGE : DOT · CIVIL · RELIGIEUX</a:t>
            </a:r>
            <a:endParaRPr lang="en-US" sz="710" dirty="0"/>
          </a:p>
        </p:txBody>
      </p:sp>
      <p:sp>
        <p:nvSpPr>
          <p:cNvPr id="8" name="Text 5"/>
          <p:cNvSpPr txBox="1"/>
          <p:nvPr/>
        </p:nvSpPr>
        <p:spPr>
          <a:xfrm>
            <a:off x="533400" y="2590800"/>
            <a:ext cx="3429000" cy="113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52"/>
              </a:lnSpc>
              <a:buNone/>
            </a:pPr>
            <a:r>
              <a:rPr lang="en-US" sz="157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 premier grand défi de la maison : habiller une mariée, son marié, la mère de la mariée et les demoiselles d’honneur pour l’ensemble des cérémonies.</a:t>
            </a:r>
            <a:endParaRPr lang="en-US" sz="1570" dirty="0"/>
          </a:p>
        </p:txBody>
      </p:sp>
      <p:sp>
        <p:nvSpPr>
          <p:cNvPr id="9" name="Text 6"/>
          <p:cNvSpPr txBox="1"/>
          <p:nvPr/>
        </p:nvSpPr>
        <p:spPr>
          <a:xfrm>
            <a:off x="533400" y="5054600"/>
            <a:ext cx="6925056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36"/>
              </a:lnSpc>
              <a:buNone/>
            </a:pPr>
            <a:r>
              <a:rPr lang="en-US" sz="2900" dirty="0">
                <a:solidFill>
                  <a:srgbClr val="B68A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2900" dirty="0"/>
          </a:p>
        </p:txBody>
      </p:sp>
      <p:sp>
        <p:nvSpPr>
          <p:cNvPr id="10" name="Text 7"/>
          <p:cNvSpPr txBox="1"/>
          <p:nvPr/>
        </p:nvSpPr>
        <p:spPr>
          <a:xfrm>
            <a:off x="533400" y="5524500"/>
            <a:ext cx="1041400" cy="170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1"/>
              </a:lnSpc>
              <a:buNone/>
            </a:pPr>
            <a:r>
              <a:rPr lang="en-US" sz="71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tenues à coordonner</a:t>
            </a:r>
            <a:endParaRPr lang="en-US" sz="710" dirty="0"/>
          </a:p>
        </p:txBody>
      </p:sp>
      <p:sp>
        <p:nvSpPr>
          <p:cNvPr id="11" name="Text 8"/>
          <p:cNvSpPr txBox="1"/>
          <p:nvPr/>
        </p:nvSpPr>
        <p:spPr>
          <a:xfrm>
            <a:off x="1739900" y="5054600"/>
            <a:ext cx="5718556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36"/>
              </a:lnSpc>
              <a:buNone/>
            </a:pPr>
            <a:r>
              <a:rPr lang="en-US" sz="2900" dirty="0">
                <a:solidFill>
                  <a:srgbClr val="B68A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900" dirty="0"/>
          </a:p>
        </p:txBody>
      </p:sp>
      <p:sp>
        <p:nvSpPr>
          <p:cNvPr id="12" name="Text 9"/>
          <p:cNvSpPr txBox="1"/>
          <p:nvPr/>
        </p:nvSpPr>
        <p:spPr>
          <a:xfrm>
            <a:off x="1739900" y="5524500"/>
            <a:ext cx="1041400" cy="300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1"/>
              </a:lnSpc>
              <a:buNone/>
            </a:pPr>
            <a:r>
              <a:rPr lang="en-US" sz="71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 engagée pour tenir le délai</a:t>
            </a:r>
            <a:endParaRPr lang="en-US" sz="710" dirty="0"/>
          </a:p>
        </p:txBody>
      </p:sp>
      <p:sp>
        <p:nvSpPr>
          <p:cNvPr id="13" name="Text 10"/>
          <p:cNvSpPr txBox="1"/>
          <p:nvPr/>
        </p:nvSpPr>
        <p:spPr>
          <a:xfrm>
            <a:off x="2946400" y="5054600"/>
            <a:ext cx="4512056" cy="364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44"/>
              </a:lnSpc>
              <a:buNone/>
            </a:pPr>
            <a:r>
              <a:rPr lang="en-US" sz="2100" dirty="0">
                <a:solidFill>
                  <a:srgbClr val="B68A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100%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946400" y="5524500"/>
            <a:ext cx="1041400" cy="170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1"/>
              </a:lnSpc>
              <a:buNone/>
            </a:pPr>
            <a:r>
              <a:rPr lang="en-US" sz="71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finitions supervisées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533400" y="6311900"/>
            <a:ext cx="3390900" cy="573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8"/>
              </a:lnSpc>
              <a:buNone/>
            </a:pPr>
            <a:r>
              <a:rPr lang="en-US" sz="950" dirty="0">
                <a:solidFill>
                  <a:srgbClr val="20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Malgré le retard des tissus commandés au Nigeria et le temps compté, Ange-Marie a organisé l’équipe, dirigé les étapes de décoration et veillé personnellement à chaque finition.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292600" y="5232400"/>
            <a:ext cx="2641600" cy="273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4"/>
              </a:lnSpc>
              <a:buNone/>
            </a:pPr>
            <a:r>
              <a:rPr lang="en-US" sz="600" b="1" spc="10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 : UNE HISTOIRE PORTÉE AVEC COHÉRENCE.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L’ATELIER HMG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4064000" cy="900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3"/>
              </a:lnSpc>
              <a:buNone/>
            </a:pPr>
            <a:r>
              <a:rPr lang="en-US" sz="3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l’idée</a:t>
            </a:r>
            <a:endParaRPr lang="en-US" sz="3300" dirty="0"/>
          </a:p>
          <a:p>
            <a:pPr algn="l" indent="0" marL="0">
              <a:lnSpc>
                <a:spcPts val="3383"/>
              </a:lnSpc>
              <a:buNone/>
            </a:pPr>
            <a:r>
              <a:rPr lang="en-US" sz="3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 dernier point.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10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26670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10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10" dirty="0"/>
          </a:p>
        </p:txBody>
      </p:sp>
      <p:sp>
        <p:nvSpPr>
          <p:cNvPr id="8" name="Text 5"/>
          <p:cNvSpPr txBox="1"/>
          <p:nvPr/>
        </p:nvSpPr>
        <p:spPr>
          <a:xfrm>
            <a:off x="533400" y="2908300"/>
            <a:ext cx="1524000" cy="325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Écouter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108200" y="2971800"/>
            <a:ext cx="1778000" cy="350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7"/>
              </a:lnSpc>
              <a:buNone/>
            </a:pPr>
            <a:r>
              <a:rPr lang="en-US" sz="88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Comprendre l’occasion, la silhouette et l’intention.</a:t>
            </a:r>
            <a:endParaRPr lang="en-US" sz="880" dirty="0"/>
          </a:p>
        </p:txBody>
      </p:sp>
      <p:sp>
        <p:nvSpPr>
          <p:cNvPr id="10" name="Text 7"/>
          <p:cNvSpPr txBox="1"/>
          <p:nvPr/>
        </p:nvSpPr>
        <p:spPr>
          <a:xfrm>
            <a:off x="533400" y="4000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10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10" dirty="0"/>
          </a:p>
        </p:txBody>
      </p:sp>
      <p:sp>
        <p:nvSpPr>
          <p:cNvPr id="11" name="Text 8"/>
          <p:cNvSpPr txBox="1"/>
          <p:nvPr/>
        </p:nvSpPr>
        <p:spPr>
          <a:xfrm>
            <a:off x="533400" y="4241800"/>
            <a:ext cx="1524000" cy="325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Dessiner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2108200" y="4305300"/>
            <a:ext cx="1778000" cy="350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7"/>
              </a:lnSpc>
              <a:buNone/>
            </a:pPr>
            <a:r>
              <a:rPr lang="en-US" sz="88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Choisir les lignes, les matières et les détails utiles.</a:t>
            </a:r>
            <a:endParaRPr lang="en-US" sz="880" dirty="0"/>
          </a:p>
        </p:txBody>
      </p:sp>
      <p:sp>
        <p:nvSpPr>
          <p:cNvPr id="13" name="Text 10"/>
          <p:cNvSpPr txBox="1"/>
          <p:nvPr/>
        </p:nvSpPr>
        <p:spPr>
          <a:xfrm>
            <a:off x="533400" y="53340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10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10" dirty="0"/>
          </a:p>
        </p:txBody>
      </p:sp>
      <p:sp>
        <p:nvSpPr>
          <p:cNvPr id="14" name="Text 11"/>
          <p:cNvSpPr txBox="1"/>
          <p:nvPr/>
        </p:nvSpPr>
        <p:spPr>
          <a:xfrm>
            <a:off x="533400" y="5575300"/>
            <a:ext cx="1524000" cy="325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Construire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2108200" y="5638800"/>
            <a:ext cx="1778000" cy="350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7"/>
              </a:lnSpc>
              <a:buNone/>
            </a:pPr>
            <a:r>
              <a:rPr lang="en-US" sz="88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Couper, ajuster et assembler avec soin.</a:t>
            </a:r>
            <a:endParaRPr lang="en-US" sz="880" dirty="0"/>
          </a:p>
        </p:txBody>
      </p:sp>
      <p:sp>
        <p:nvSpPr>
          <p:cNvPr id="16" name="Text 13"/>
          <p:cNvSpPr txBox="1"/>
          <p:nvPr/>
        </p:nvSpPr>
        <p:spPr>
          <a:xfrm>
            <a:off x="533400" y="6667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10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533400" y="6908800"/>
            <a:ext cx="1524000" cy="325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Finaliser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2108200" y="6972300"/>
            <a:ext cx="1778000" cy="350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7"/>
              </a:lnSpc>
              <a:buNone/>
            </a:pPr>
            <a:r>
              <a:rPr lang="en-US" sz="88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Contrôler le tombé et signer chaque finition.</a:t>
            </a:r>
            <a:endParaRPr lang="en-US" sz="880" dirty="0"/>
          </a:p>
        </p:txBody>
      </p:sp>
      <p:sp>
        <p:nvSpPr>
          <p:cNvPr id="19" name="Text 16"/>
          <p:cNvSpPr txBox="1"/>
          <p:nvPr/>
        </p:nvSpPr>
        <p:spPr>
          <a:xfrm>
            <a:off x="4546600" y="5080000"/>
            <a:ext cx="29118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POINT D’HONNEUR</a:t>
            </a:r>
            <a:endParaRPr lang="en-US" sz="710" dirty="0"/>
          </a:p>
        </p:txBody>
      </p:sp>
      <p:sp>
        <p:nvSpPr>
          <p:cNvPr id="20" name="Text 17"/>
          <p:cNvSpPr txBox="1"/>
          <p:nvPr/>
        </p:nvSpPr>
        <p:spPr>
          <a:xfrm>
            <a:off x="4546600" y="5473700"/>
            <a:ext cx="2159000" cy="942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5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 vêtement doit être aussi juste à porter qu’à regarder.</a:t>
            </a:r>
            <a:endParaRPr lang="en-US" sz="1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BRANDING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4318000" cy="900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3"/>
              </a:lnSpc>
              <a:buNone/>
            </a:pPr>
            <a:r>
              <a:rPr lang="en-US" sz="3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L’artisan</a:t>
            </a:r>
            <a:endParaRPr lang="en-US" sz="3300" dirty="0"/>
          </a:p>
          <a:p>
            <a:pPr algn="l" indent="0" marL="0">
              <a:lnSpc>
                <a:spcPts val="3383"/>
              </a:lnSpc>
              <a:buNone/>
            </a:pPr>
            <a:r>
              <a:rPr lang="en-US" sz="3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derrière la maison.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11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3784600" y="2425700"/>
            <a:ext cx="2921000" cy="283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6"/>
              </a:lnSpc>
              <a:buNone/>
            </a:pPr>
            <a:r>
              <a:rPr lang="en-US" sz="635" b="1" spc="165" kern="0" dirty="0">
                <a:solidFill>
                  <a:srgbClr val="3E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HOUÉMAGNON ANGE-MARIE MAHOUNA COOVI PEGAZ FIDÈL</a:t>
            </a:r>
            <a:endParaRPr lang="en-US" sz="635" dirty="0"/>
          </a:p>
        </p:txBody>
      </p:sp>
      <p:sp>
        <p:nvSpPr>
          <p:cNvPr id="8" name="Text 5"/>
          <p:cNvSpPr txBox="1"/>
          <p:nvPr/>
        </p:nvSpPr>
        <p:spPr>
          <a:xfrm>
            <a:off x="3784600" y="2844800"/>
            <a:ext cx="2857500" cy="937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3"/>
              </a:lnSpc>
              <a:buNone/>
            </a:pPr>
            <a:r>
              <a:rPr lang="en-US" sz="175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Technicien de Mode Vêtements, styliste-modéliste et accessoiriste béninois.</a:t>
            </a:r>
            <a:endParaRPr lang="en-US" sz="1750" dirty="0"/>
          </a:p>
        </p:txBody>
      </p:sp>
      <p:sp>
        <p:nvSpPr>
          <p:cNvPr id="9" name="Text 6"/>
          <p:cNvSpPr txBox="1"/>
          <p:nvPr/>
        </p:nvSpPr>
        <p:spPr>
          <a:xfrm>
            <a:off x="3784600" y="4495800"/>
            <a:ext cx="2857500" cy="906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92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Passionné par les métiers de la mode, l’art culinaire, le bricolage et tout ce qui peut prendre forme à la main. J’aime les documentaires et les films instructifs, les temps de création et les réflexions qui font mûrir une idée.</a:t>
            </a:r>
            <a:endParaRPr lang="en-US" sz="920" dirty="0"/>
          </a:p>
        </p:txBody>
      </p:sp>
      <p:sp>
        <p:nvSpPr>
          <p:cNvPr id="10" name="Text 7"/>
          <p:cNvSpPr txBox="1"/>
          <p:nvPr/>
        </p:nvSpPr>
        <p:spPr>
          <a:xfrm>
            <a:off x="3784600" y="6477000"/>
            <a:ext cx="36738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IDENTITÉ</a:t>
            </a:r>
            <a:endParaRPr lang="en-US" sz="710" dirty="0"/>
          </a:p>
        </p:txBody>
      </p:sp>
      <p:sp>
        <p:nvSpPr>
          <p:cNvPr id="11" name="Text 8"/>
          <p:cNvSpPr txBox="1"/>
          <p:nvPr/>
        </p:nvSpPr>
        <p:spPr>
          <a:xfrm>
            <a:off x="3784600" y="6769100"/>
            <a:ext cx="2794000" cy="205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5"/>
              </a:lnSpc>
              <a:buNone/>
            </a:pPr>
            <a:r>
              <a:rPr lang="en-US" sz="920" b="1" spc="20" kern="0" dirty="0">
                <a:solidFill>
                  <a:srgbClr val="3E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Sérieux · Joyeux · Professionnel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69900" y="7874000"/>
            <a:ext cx="6988556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2"/>
              </a:lnSpc>
              <a:buNone/>
            </a:pPr>
            <a:r>
              <a:rPr lang="en-US" sz="4500" dirty="0">
                <a:solidFill>
                  <a:srgbClr val="B68A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</a:t>
            </a:r>
            <a:endParaRPr lang="en-US" sz="4500" dirty="0"/>
          </a:p>
        </p:txBody>
      </p:sp>
      <p:sp>
        <p:nvSpPr>
          <p:cNvPr id="13" name="Text 10"/>
          <p:cNvSpPr txBox="1"/>
          <p:nvPr/>
        </p:nvSpPr>
        <p:spPr>
          <a:xfrm>
            <a:off x="762000" y="8026400"/>
            <a:ext cx="5143500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7"/>
              </a:lnSpc>
              <a:buNone/>
            </a:pPr>
            <a:r>
              <a:rPr lang="en-US" sz="2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Héritier du fil, créateur de style.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533400" y="8953500"/>
            <a:ext cx="6925056" cy="17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70" spc="4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Signature personnelle</a:t>
            </a:r>
            <a:endParaRPr lang="en-US" sz="7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PARCOURS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4318000" cy="900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3"/>
              </a:lnSpc>
              <a:buNone/>
            </a:pPr>
            <a:r>
              <a:rPr lang="en-US" sz="3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Apprendre,</a:t>
            </a:r>
            <a:endParaRPr lang="en-US" sz="3300" dirty="0"/>
          </a:p>
          <a:p>
            <a:pPr algn="l" indent="0" marL="0">
              <a:lnSpc>
                <a:spcPts val="3383"/>
              </a:lnSpc>
              <a:buNone/>
            </a:pPr>
            <a:r>
              <a:rPr lang="en-US" sz="33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pratiquer, élever.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12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2654300"/>
            <a:ext cx="6925056" cy="175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7"/>
              </a:lnSpc>
              <a:buNone/>
            </a:pPr>
            <a:r>
              <a:rPr lang="en-US" sz="720" b="1" spc="120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2007—2020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33400" y="293370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2"/>
              </a:lnSpc>
              <a:buNone/>
            </a:pPr>
            <a:r>
              <a:rPr lang="en-US" sz="20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Cursus général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33400" y="3340100"/>
            <a:ext cx="3098800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90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maternelle à la classe de 2nde D.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33400" y="4318000"/>
            <a:ext cx="6925056" cy="175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7"/>
              </a:lnSpc>
              <a:buNone/>
            </a:pPr>
            <a:r>
              <a:rPr lang="en-US" sz="720" b="1" spc="120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2020—2023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533400" y="459740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2"/>
              </a:lnSpc>
              <a:buNone/>
            </a:pPr>
            <a:r>
              <a:rPr lang="en-US" sz="20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Formation MMV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33400" y="5003800"/>
            <a:ext cx="3098800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90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Lycée Technique d’Amitié Sino-Béninois d’Akassato · Métier de la Mode-Vêtement.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33400" y="5981700"/>
            <a:ext cx="6925056" cy="175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7"/>
              </a:lnSpc>
              <a:buNone/>
            </a:pPr>
            <a:r>
              <a:rPr lang="en-US" sz="720" b="1" spc="120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DIPLÔME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533400" y="626110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2"/>
              </a:lnSpc>
              <a:buNone/>
            </a:pPr>
            <a:r>
              <a:rPr lang="en-US" sz="20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Technicien de Mode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33400" y="6667500"/>
            <a:ext cx="3098800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90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Obtenu avec mention bien. Une vocation portée par l’amour du métier.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84700" y="5105400"/>
            <a:ext cx="28737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4584700" y="5511800"/>
            <a:ext cx="2057400" cy="96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L’amour profond du métier et le goût du travail bien fait.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ME DISTINGUE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4191000" cy="928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4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 respect</a:t>
            </a:r>
            <a:endParaRPr lang="en-US" sz="3400" dirty="0"/>
          </a:p>
          <a:p>
            <a:pPr algn="l" indent="0" marL="0">
              <a:lnSpc>
                <a:spcPts val="3494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 geste.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D9CB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D9CB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13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2895600"/>
            <a:ext cx="6925056" cy="167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7"/>
              </a:lnSpc>
              <a:buNone/>
            </a:pPr>
            <a:r>
              <a:rPr lang="en-US" sz="670" b="1" spc="12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70" dirty="0"/>
          </a:p>
        </p:txBody>
      </p:sp>
      <p:sp>
        <p:nvSpPr>
          <p:cNvPr id="8" name="Text 5"/>
          <p:cNvSpPr txBox="1"/>
          <p:nvPr/>
        </p:nvSpPr>
        <p:spPr>
          <a:xfrm>
            <a:off x="1041400" y="2870200"/>
            <a:ext cx="64170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2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Respect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1400" y="3314700"/>
            <a:ext cx="2349500" cy="360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6"/>
              </a:lnSpc>
              <a:buNone/>
            </a:pPr>
            <a:r>
              <a:rPr lang="en-US" sz="870" dirty="0">
                <a:solidFill>
                  <a:srgbClr val="D8C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personnes, les engagements et les matières.</a:t>
            </a:r>
            <a:endParaRPr lang="en-US" sz="870" dirty="0"/>
          </a:p>
        </p:txBody>
      </p:sp>
      <p:sp>
        <p:nvSpPr>
          <p:cNvPr id="10" name="Text 7"/>
          <p:cNvSpPr txBox="1"/>
          <p:nvPr/>
        </p:nvSpPr>
        <p:spPr>
          <a:xfrm>
            <a:off x="533400" y="4305300"/>
            <a:ext cx="6925056" cy="167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7"/>
              </a:lnSpc>
              <a:buNone/>
            </a:pPr>
            <a:r>
              <a:rPr lang="en-US" sz="670" b="1" spc="12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70" dirty="0"/>
          </a:p>
        </p:txBody>
      </p:sp>
      <p:sp>
        <p:nvSpPr>
          <p:cNvPr id="11" name="Text 8"/>
          <p:cNvSpPr txBox="1"/>
          <p:nvPr/>
        </p:nvSpPr>
        <p:spPr>
          <a:xfrm>
            <a:off x="1041400" y="4279900"/>
            <a:ext cx="64170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2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Dévotion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041400" y="4724400"/>
            <a:ext cx="2349500" cy="20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6"/>
              </a:lnSpc>
              <a:buNone/>
            </a:pPr>
            <a:r>
              <a:rPr lang="en-US" sz="870" dirty="0">
                <a:solidFill>
                  <a:srgbClr val="D8C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la tâche, le détail et le délai.</a:t>
            </a:r>
            <a:endParaRPr lang="en-US" sz="870" dirty="0"/>
          </a:p>
        </p:txBody>
      </p:sp>
      <p:sp>
        <p:nvSpPr>
          <p:cNvPr id="13" name="Text 10"/>
          <p:cNvSpPr txBox="1"/>
          <p:nvPr/>
        </p:nvSpPr>
        <p:spPr>
          <a:xfrm>
            <a:off x="533400" y="5715000"/>
            <a:ext cx="6925056" cy="167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7"/>
              </a:lnSpc>
              <a:buNone/>
            </a:pPr>
            <a:r>
              <a:rPr lang="en-US" sz="670" b="1" spc="12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70" dirty="0"/>
          </a:p>
        </p:txBody>
      </p:sp>
      <p:sp>
        <p:nvSpPr>
          <p:cNvPr id="14" name="Text 11"/>
          <p:cNvSpPr txBox="1"/>
          <p:nvPr/>
        </p:nvSpPr>
        <p:spPr>
          <a:xfrm>
            <a:off x="1041400" y="5689600"/>
            <a:ext cx="64170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2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Perfection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1041400" y="6134100"/>
            <a:ext cx="2349500" cy="20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6"/>
              </a:lnSpc>
              <a:buNone/>
            </a:pPr>
            <a:r>
              <a:rPr lang="en-US" sz="870" dirty="0">
                <a:solidFill>
                  <a:srgbClr val="D8C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la finition qui fait toute la différence.</a:t>
            </a:r>
            <a:endParaRPr lang="en-US" sz="870" dirty="0"/>
          </a:p>
        </p:txBody>
      </p:sp>
      <p:sp>
        <p:nvSpPr>
          <p:cNvPr id="16" name="Text 13"/>
          <p:cNvSpPr txBox="1"/>
          <p:nvPr/>
        </p:nvSpPr>
        <p:spPr>
          <a:xfrm>
            <a:off x="533400" y="75438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 PERSONNEL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533400" y="7912100"/>
            <a:ext cx="5918200" cy="607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1"/>
              </a:lnSpc>
              <a:buNone/>
            </a:pPr>
            <a:r>
              <a:rPr lang="en-US" sz="173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 quotidien : l’ensemble homme. Pour sortir : pantalons amples, chemises en soie diamant et autres expressions du style masculin.</a:t>
            </a:r>
            <a:endParaRPr lang="en-US" sz="17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4445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SUR DEMAIN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889000"/>
            <a:ext cx="4064000" cy="928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4"/>
              </a:lnSpc>
              <a:buNone/>
            </a:pPr>
            <a:r>
              <a:rPr lang="en-US" sz="34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Une ambition</a:t>
            </a:r>
            <a:endParaRPr lang="en-US" sz="3400" dirty="0"/>
          </a:p>
          <a:p>
            <a:pPr algn="l" indent="0" marL="0">
              <a:lnSpc>
                <a:spcPts val="3494"/>
              </a:lnSpc>
              <a:buNone/>
            </a:pPr>
            <a:r>
              <a:rPr lang="en-US" sz="340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 se porte.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10349103"/>
            <a:ext cx="6925056" cy="16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2"/>
              </a:lnSpc>
              <a:buNone/>
            </a:pPr>
            <a:r>
              <a:rPr lang="en-US" sz="640" b="1" spc="11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 HMG HOME</a:t>
            </a:r>
            <a:endParaRPr lang="en-US" sz="640" dirty="0"/>
          </a:p>
        </p:txBody>
      </p:sp>
      <p:sp>
        <p:nvSpPr>
          <p:cNvPr id="6" name="Text 3"/>
          <p:cNvSpPr txBox="1"/>
          <p:nvPr/>
        </p:nvSpPr>
        <p:spPr>
          <a:xfrm>
            <a:off x="5121656" y="10349103"/>
            <a:ext cx="1905000" cy="15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17"/>
              </a:lnSpc>
              <a:buNone/>
            </a:pPr>
            <a:r>
              <a:rPr lang="en-US" sz="620" spc="80" kern="0" dirty="0">
                <a:solidFill>
                  <a:srgbClr val="7C6D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MARQUE  /  14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25400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1 AN</a:t>
            </a:r>
            <a:endParaRPr lang="en-US" sz="710" dirty="0"/>
          </a:p>
        </p:txBody>
      </p:sp>
      <p:sp>
        <p:nvSpPr>
          <p:cNvPr id="8" name="Text 5"/>
          <p:cNvSpPr txBox="1"/>
          <p:nvPr/>
        </p:nvSpPr>
        <p:spPr>
          <a:xfrm>
            <a:off x="533400" y="2895600"/>
            <a:ext cx="3225800" cy="933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2"/>
              </a:lnSpc>
              <a:buNone/>
            </a:pPr>
            <a:r>
              <a:rPr lang="en-US" sz="174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 Cotonou dise : “HMG HOME, c’est la référence pour le classique, le moderne et le traditionnel.”</a:t>
            </a:r>
            <a:endParaRPr lang="en-US" sz="1740" dirty="0"/>
          </a:p>
        </p:txBody>
      </p:sp>
      <p:sp>
        <p:nvSpPr>
          <p:cNvPr id="9" name="Text 6"/>
          <p:cNvSpPr txBox="1"/>
          <p:nvPr/>
        </p:nvSpPr>
        <p:spPr>
          <a:xfrm>
            <a:off x="533400" y="50546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B68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3 ANS</a:t>
            </a:r>
            <a:endParaRPr lang="en-US" sz="710" dirty="0"/>
          </a:p>
        </p:txBody>
      </p:sp>
      <p:sp>
        <p:nvSpPr>
          <p:cNvPr id="10" name="Text 7"/>
          <p:cNvSpPr txBox="1"/>
          <p:nvPr/>
        </p:nvSpPr>
        <p:spPr>
          <a:xfrm>
            <a:off x="533400" y="5410200"/>
            <a:ext cx="3225800" cy="15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2"/>
              </a:lnSpc>
              <a:buNone/>
            </a:pPr>
            <a:r>
              <a:rPr lang="en-US" sz="174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Compter parmi les grandes références du Bénin et d’autres pays. Habiller les grandes personnalités et les stars. Diriger ma propre équipe.</a:t>
            </a:r>
            <a:endParaRPr lang="en-US" sz="1740" dirty="0"/>
          </a:p>
        </p:txBody>
      </p:sp>
      <p:sp>
        <p:nvSpPr>
          <p:cNvPr id="11" name="Text 8"/>
          <p:cNvSpPr txBox="1"/>
          <p:nvPr/>
        </p:nvSpPr>
        <p:spPr>
          <a:xfrm>
            <a:off x="4495800" y="4902200"/>
            <a:ext cx="29626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QUI ?</a:t>
            </a:r>
            <a:endParaRPr lang="en-US" sz="710" dirty="0"/>
          </a:p>
        </p:txBody>
      </p:sp>
      <p:sp>
        <p:nvSpPr>
          <p:cNvPr id="12" name="Text 9"/>
          <p:cNvSpPr txBox="1"/>
          <p:nvPr/>
        </p:nvSpPr>
        <p:spPr>
          <a:xfrm>
            <a:off x="4495800" y="5321300"/>
            <a:ext cx="2095500" cy="1507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9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Pour les hommes et les femmes — béninois et étrangers — discrets ou audacieux.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495800" y="7175500"/>
            <a:ext cx="2082800" cy="172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3"/>
              </a:lnSpc>
              <a:buNone/>
            </a:pPr>
            <a:r>
              <a:rPr lang="en-US" sz="700" b="1" spc="7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 · Apprentis · Investisseurs</a:t>
            </a:r>
            <a:endParaRPr lang="en-US" sz="700" dirty="0"/>
          </a:p>
        </p:txBody>
      </p:sp>
      <p:sp>
        <p:nvSpPr>
          <p:cNvPr id="14" name="Text 11"/>
          <p:cNvSpPr txBox="1"/>
          <p:nvPr/>
        </p:nvSpPr>
        <p:spPr>
          <a:xfrm>
            <a:off x="469900" y="8293100"/>
            <a:ext cx="6988556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2"/>
              </a:lnSpc>
              <a:buNone/>
            </a:pPr>
            <a:r>
              <a:rPr lang="en-US" sz="4500" dirty="0">
                <a:solidFill>
                  <a:srgbClr val="B68A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</a:t>
            </a:r>
            <a:endParaRPr lang="en-US" sz="4500" dirty="0"/>
          </a:p>
        </p:txBody>
      </p:sp>
      <p:sp>
        <p:nvSpPr>
          <p:cNvPr id="15" name="Text 12"/>
          <p:cNvSpPr txBox="1"/>
          <p:nvPr/>
        </p:nvSpPr>
        <p:spPr>
          <a:xfrm>
            <a:off x="762000" y="8445500"/>
            <a:ext cx="5588000" cy="588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53"/>
              </a:lnSpc>
              <a:buNone/>
            </a:pPr>
            <a:r>
              <a:rPr lang="en-US" sz="1750" dirty="0">
                <a:solidFill>
                  <a:srgbClr val="3E27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Prendre son travail au sérieux et bien à cœur, en toute circonstance, sans distinction.</a:t>
            </a:r>
            <a:endParaRPr lang="en-US" sz="1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folio/_work/editable-pptx/render/pag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56" cy="106920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3400" y="20574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PIÈCE À IMAGINER ?</a:t>
            </a:r>
            <a:endParaRPr lang="en-US" sz="710" dirty="0"/>
          </a:p>
        </p:txBody>
      </p:sp>
      <p:sp>
        <p:nvSpPr>
          <p:cNvPr id="4" name="Text 1"/>
          <p:cNvSpPr txBox="1"/>
          <p:nvPr/>
        </p:nvSpPr>
        <p:spPr>
          <a:xfrm>
            <a:off x="533400" y="2413000"/>
            <a:ext cx="4318000" cy="872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71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Parlons de votre prochaine allure.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33400" y="48641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ATELIER</a:t>
            </a:r>
            <a:endParaRPr lang="en-US" sz="710" dirty="0"/>
          </a:p>
        </p:txBody>
      </p:sp>
      <p:sp>
        <p:nvSpPr>
          <p:cNvPr id="6" name="Text 3"/>
          <p:cNvSpPr txBox="1"/>
          <p:nvPr/>
        </p:nvSpPr>
        <p:spPr>
          <a:xfrm>
            <a:off x="533400" y="5207000"/>
            <a:ext cx="69250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32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Tankpè, Abomey-Calavi · Bénin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33400" y="60833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710" dirty="0"/>
          </a:p>
        </p:txBody>
      </p:sp>
      <p:sp>
        <p:nvSpPr>
          <p:cNvPr id="8" name="Text 5"/>
          <p:cNvSpPr txBox="1"/>
          <p:nvPr/>
        </p:nvSpPr>
        <p:spPr>
          <a:xfrm>
            <a:off x="533400" y="6438900"/>
            <a:ext cx="69250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01 42 65 66 61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533400" y="7353300"/>
            <a:ext cx="6925056" cy="17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5"/>
              </a:lnSpc>
              <a:buNone/>
            </a:pPr>
            <a:r>
              <a:rPr lang="en-US" sz="710" b="1" spc="165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RÉSEAUX</a:t>
            </a:r>
            <a:endParaRPr lang="en-US" sz="710" dirty="0"/>
          </a:p>
        </p:txBody>
      </p:sp>
      <p:sp>
        <p:nvSpPr>
          <p:cNvPr id="10" name="Text 7"/>
          <p:cNvSpPr txBox="1"/>
          <p:nvPr/>
        </p:nvSpPr>
        <p:spPr>
          <a:xfrm>
            <a:off x="533400" y="7696200"/>
            <a:ext cx="6925056" cy="394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7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@Ange_hmg_home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558800" y="8128000"/>
            <a:ext cx="6899656" cy="18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20" spc="20" kern="0" dirty="0">
                <a:solidFill>
                  <a:srgbClr val="D8C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· Instagram</a:t>
            </a:r>
            <a:endParaRPr lang="en-US" sz="820" dirty="0"/>
          </a:p>
        </p:txBody>
      </p:sp>
      <p:sp>
        <p:nvSpPr>
          <p:cNvPr id="12" name="Text 9"/>
          <p:cNvSpPr txBox="1"/>
          <p:nvPr/>
        </p:nvSpPr>
        <p:spPr>
          <a:xfrm>
            <a:off x="533400" y="9194800"/>
            <a:ext cx="6925056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4"/>
              </a:lnSpc>
              <a:buNone/>
            </a:pPr>
            <a:r>
              <a:rPr lang="en-US" sz="2100" dirty="0">
                <a:solidFill>
                  <a:srgbClr val="E9D8B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Héritier du fil, créateur de style.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188456" y="9601200"/>
            <a:ext cx="838200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7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Merci.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594856" y="9917303"/>
            <a:ext cx="863600" cy="183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800" spc="120" kern="0" dirty="0">
                <a:solidFill>
                  <a:srgbClr val="E9D8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ANGE HMG 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ANGE HMG HOME — Dossier de marque officiel</dc:title>
  <dc:subject>Dossier de marque officiel — version PowerPoint modifiable</dc:subject>
  <dc:creator>HOUEMAGNON Ange-Marie Mahouna Coovi Pegaz Fidèl</dc:creator>
  <cp:lastModifiedBy>HOUEMAGNON Ange-Marie Mahouna Coovi Pegaz Fidèl</cp:lastModifiedBy>
  <cp:revision>1</cp:revision>
  <dcterms:created xsi:type="dcterms:W3CDTF">2026-10-05T00:52:48Z</dcterms:created>
  <dcterms:modified xsi:type="dcterms:W3CDTF">2026-10-05T00:52:48Z</dcterms:modified>
</cp:coreProperties>
</file>