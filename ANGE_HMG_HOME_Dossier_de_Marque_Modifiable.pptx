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7559985" cy="10691988"/>
  <p:notesSz cx="10691988" cy="755998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WhatsApp Image 2026-10-05 at 00.40.13 (1).jpeg">    </p:cNvPr>
          <p:cNvPicPr>
            <a:picLocks noChangeAspect="1"/>
          </p:cNvPicPr>
          <p:nvPr/>
        </p:nvPicPr>
        <p:blipFill>
          <a:blip r:embed="rId1">
            <a:alphaModFix amt="93000"/>
          </a:blip>
          <a:srcRect l="0" r="0" t="0" b="0"/>
          <a:stretch/>
        </p:blipFill>
        <p:spPr>
          <a:xfrm>
            <a:off x="4844217" y="0"/>
            <a:ext cx="2715768" cy="106919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4217" y="0"/>
            <a:ext cx="2715768" cy="10691988"/>
          </a:xfrm>
          <a:prstGeom prst="rect">
            <a:avLst/>
          </a:prstGeom>
          <a:solidFill>
            <a:srgbClr val="3E2723">
              <a:alpha val="28000"/>
            </a:srgbClr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02336"/>
            <a:ext cx="1078992" cy="0"/>
          </a:xfrm>
          <a:prstGeom prst="line">
            <a:avLst/>
          </a:prstGeom>
          <a:noFill/>
          <a:ln w="13970">
            <a:solidFill>
              <a:srgbClr val="B68A5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5669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OFFICIEL</a:t>
            </a:r>
            <a:endParaRPr lang="en-US" sz="630" dirty="0"/>
          </a:p>
        </p:txBody>
      </p:sp>
      <p:pic>
        <p:nvPicPr>
          <p:cNvPr id="6" name="Image 1" descr="/home/user/portfolio/portfolio-source/ange-hmg-home-logo-whi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960120"/>
            <a:ext cx="2304288" cy="7132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0352" y="2039112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DOSSIER</a:t>
            </a:r>
            <a:endParaRPr lang="en-US" sz="33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MARQUE</a:t>
            </a:r>
            <a:endParaRPr lang="en-US" sz="3300" dirty="0"/>
          </a:p>
        </p:txBody>
      </p:sp>
      <p:sp>
        <p:nvSpPr>
          <p:cNvPr id="8" name="Shape 4"/>
          <p:cNvSpPr/>
          <p:nvPr/>
        </p:nvSpPr>
        <p:spPr>
          <a:xfrm>
            <a:off x="530352" y="3858768"/>
            <a:ext cx="1188720" cy="0"/>
          </a:xfrm>
          <a:prstGeom prst="line">
            <a:avLst/>
          </a:prstGeom>
          <a:noFill/>
          <a:ln w="12700">
            <a:solidFill>
              <a:srgbClr val="B68A5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30352" y="40965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E6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allure ancrée dans la terre béninoise, dessinée pour durer.</a:t>
            </a:r>
            <a:endParaRPr lang="en-US" sz="1340" dirty="0"/>
          </a:p>
        </p:txBody>
      </p:sp>
      <p:sp>
        <p:nvSpPr>
          <p:cNvPr id="10" name="Text 6"/>
          <p:cNvSpPr txBox="1"/>
          <p:nvPr/>
        </p:nvSpPr>
        <p:spPr>
          <a:xfrm>
            <a:off x="530352" y="5330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ÉDITION 2026</a:t>
            </a:r>
            <a:endParaRPr lang="en-US" sz="590" dirty="0"/>
          </a:p>
        </p:txBody>
      </p:sp>
      <p:sp>
        <p:nvSpPr>
          <p:cNvPr id="11" name="Text 7"/>
          <p:cNvSpPr txBox="1"/>
          <p:nvPr/>
        </p:nvSpPr>
        <p:spPr>
          <a:xfrm>
            <a:off x="530352" y="56052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CLASSIQUE · MODERNE · TRADITIONNEL</a:t>
            </a:r>
            <a:endParaRPr lang="en-US" sz="610" dirty="0"/>
          </a:p>
        </p:txBody>
      </p:sp>
      <p:sp>
        <p:nvSpPr>
          <p:cNvPr id="12" name="Shape 8"/>
          <p:cNvSpPr/>
          <p:nvPr/>
        </p:nvSpPr>
        <p:spPr>
          <a:xfrm>
            <a:off x="758952" y="7644384"/>
            <a:ext cx="749808" cy="749808"/>
          </a:xfrm>
          <a:prstGeom prst="ellipse">
            <a:avLst/>
          </a:prstGeom>
          <a:solidFill>
            <a:srgbClr val="B68A55">
              <a:alpha val="0"/>
            </a:srgbClr>
          </a:solidFill>
          <a:ln w="6985">
            <a:solidFill>
              <a:srgbClr val="B68A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50392" y="7735824"/>
            <a:ext cx="566928" cy="566928"/>
          </a:xfrm>
          <a:prstGeom prst="ellipse">
            <a:avLst/>
          </a:prstGeom>
          <a:solidFill>
            <a:srgbClr val="B68A55">
              <a:alpha val="0"/>
            </a:srgbClr>
          </a:solidFill>
          <a:ln w="6985">
            <a:solidFill>
              <a:srgbClr val="B68A5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86968" y="7918704"/>
            <a:ext cx="484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HMG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557784" y="830275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50" b="1" spc="105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HOUEMAGNON</a:t>
            </a:r>
            <a:endParaRPr lang="en-US" sz="450" dirty="0"/>
          </a:p>
        </p:txBody>
      </p:sp>
      <p:sp>
        <p:nvSpPr>
          <p:cNvPr id="16" name="Text 12"/>
          <p:cNvSpPr txBox="1"/>
          <p:nvPr/>
        </p:nvSpPr>
        <p:spPr>
          <a:xfrm>
            <a:off x="530352" y="957376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E6D9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Atelier Tankpè, Abomey-Calavi · Bénin</a:t>
            </a:r>
            <a:endParaRPr lang="en-US" sz="580" dirty="0"/>
          </a:p>
        </p:txBody>
      </p:sp>
      <p:sp>
        <p:nvSpPr>
          <p:cNvPr id="17" name="Text 13"/>
          <p:cNvSpPr txBox="1"/>
          <p:nvPr/>
        </p:nvSpPr>
        <p:spPr>
          <a:xfrm>
            <a:off x="530352" y="9774936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b="1" spc="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42 65 66 61  ·  @Ange_hmg_home</a:t>
            </a:r>
            <a:endParaRPr lang="en-US" sz="580" dirty="0"/>
          </a:p>
        </p:txBody>
      </p:sp>
      <p:sp>
        <p:nvSpPr>
          <p:cNvPr id="18" name="Text 14"/>
          <p:cNvSpPr txBox="1"/>
          <p:nvPr/>
        </p:nvSpPr>
        <p:spPr>
          <a:xfrm>
            <a:off x="6663873" y="99330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spc="11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MAISON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5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maison,</a:t>
            </a:r>
            <a:endParaRPr lang="en-US" sz="24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45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racine.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02</a:t>
            </a:r>
            <a:endParaRPr lang="en-US" sz="500" dirty="0"/>
          </a:p>
        </p:txBody>
      </p:sp>
      <p:pic>
        <p:nvPicPr>
          <p:cNvPr id="8" name="Image 0" descr="/home/user/portfolio/WhatsApp Image 2026-10-05 at 00.38.14 (1)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69664" y="1069848"/>
            <a:ext cx="2843784" cy="39136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6552" y="1252728"/>
            <a:ext cx="694944" cy="219456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71416" y="1316736"/>
            <a:ext cx="5852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1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BÉNIN</a:t>
            </a:r>
            <a:endParaRPr lang="en-US" sz="51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2432304"/>
            <a:ext cx="31272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ANGE HMG HOME célèbre les silhouettes qui ont de la présence : une élégance naturellement affirmée, pensée pour les moments qui comptent.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30352" y="4251960"/>
            <a:ext cx="3127248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45171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NOTRE PROMESSE</a:t>
            </a:r>
            <a:endParaRPr lang="en-US" sz="590" dirty="0"/>
          </a:p>
        </p:txBody>
      </p:sp>
      <p:sp>
        <p:nvSpPr>
          <p:cNvPr id="14" name="Text 11"/>
          <p:cNvSpPr txBox="1"/>
          <p:nvPr/>
        </p:nvSpPr>
        <p:spPr>
          <a:xfrm>
            <a:off x="530352" y="48463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5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Confort.</a:t>
            </a:r>
            <a:endParaRPr lang="en-US" sz="18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85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Durabilité.</a:t>
            </a:r>
            <a:endParaRPr lang="en-US" sz="18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85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Haute gamme.</a:t>
            </a:r>
            <a:endParaRPr lang="en-US" sz="1850" dirty="0"/>
          </a:p>
        </p:txBody>
      </p:sp>
      <p:sp>
        <p:nvSpPr>
          <p:cNvPr id="15" name="Text 12"/>
          <p:cNvSpPr txBox="1"/>
          <p:nvPr/>
        </p:nvSpPr>
        <p:spPr>
          <a:xfrm>
            <a:off x="530352" y="641908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pièce est conçue pour accompagner le mouvement, honorer la personne qui la porte et garder sa tenue au fil du temps.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4169664" y="5193792"/>
            <a:ext cx="2843784" cy="1261872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16552" y="54772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MANIFESTE</a:t>
            </a:r>
            <a:endParaRPr lang="en-US" sz="590" dirty="0"/>
          </a:p>
        </p:txBody>
      </p:sp>
      <p:sp>
        <p:nvSpPr>
          <p:cNvPr id="18" name="Text 15"/>
          <p:cNvSpPr txBox="1"/>
          <p:nvPr/>
        </p:nvSpPr>
        <p:spPr>
          <a:xfrm>
            <a:off x="4416552" y="581558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3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Créer avec exigence, porter avec assurance.</a:t>
            </a:r>
            <a:endParaRPr lang="en-US" sz="14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CODES HMG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4023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55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empreinte.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03</a:t>
            </a:r>
            <a:endParaRPr lang="en-US" sz="5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2523744" cy="1993392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pic>
        <p:nvPicPr>
          <p:cNvPr id="9" name="Image 0" descr="/home/user/portfolio/portfolio-source/ange-hmg-home-logo-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139696"/>
            <a:ext cx="1755648" cy="6035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8680" y="2798064"/>
            <a:ext cx="1792224" cy="0"/>
          </a:xfrm>
          <a:prstGeom prst="line">
            <a:avLst/>
          </a:prstGeom>
          <a:noFill/>
          <a:ln w="8255">
            <a:solidFill>
              <a:srgbClr val="B68A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05409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80" b="1" spc="10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HMG = HOUEMAGNON</a:t>
            </a:r>
            <a:endParaRPr lang="en-US" sz="58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38328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3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nom porté comme une signature.</a:t>
            </a:r>
            <a:endParaRPr lang="en-US" sz="1230" dirty="0"/>
          </a:p>
        </p:txBody>
      </p:sp>
      <p:sp>
        <p:nvSpPr>
          <p:cNvPr id="13" name="Text 10"/>
          <p:cNvSpPr txBox="1"/>
          <p:nvPr/>
        </p:nvSpPr>
        <p:spPr>
          <a:xfrm>
            <a:off x="3575304" y="19842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COULEUR, UNE MÉMOIRE</a:t>
            </a:r>
            <a:endParaRPr lang="en-US" sz="590" dirty="0"/>
          </a:p>
        </p:txBody>
      </p:sp>
      <p:sp>
        <p:nvSpPr>
          <p:cNvPr id="14" name="Text 11"/>
          <p:cNvSpPr txBox="1"/>
          <p:nvPr/>
        </p:nvSpPr>
        <p:spPr>
          <a:xfrm>
            <a:off x="3575304" y="2313432"/>
            <a:ext cx="30449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marron #3E2723 évoque la terre du Bénin : notre origine, notre stabilité, notre point de départ.</a:t>
            </a:r>
            <a:endParaRPr lang="en-US" sz="1340" dirty="0"/>
          </a:p>
        </p:txBody>
      </p:sp>
      <p:sp>
        <p:nvSpPr>
          <p:cNvPr id="15" name="Text 12"/>
          <p:cNvSpPr txBox="1"/>
          <p:nvPr/>
        </p:nvSpPr>
        <p:spPr>
          <a:xfrm>
            <a:off x="3575304" y="3520440"/>
            <a:ext cx="2971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HMG est aussi un hommage à Lydwine HOUEMAGNON, la mère du fondateur. Une maison guidée par un héritage de valeurs et de transmission.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30352" y="4572000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" y="4855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 TROIS VALEURS</a:t>
            </a:r>
            <a:endParaRPr lang="en-US" sz="590" dirty="0"/>
          </a:p>
        </p:txBody>
      </p:sp>
      <p:sp>
        <p:nvSpPr>
          <p:cNvPr id="18" name="Shape 15"/>
          <p:cNvSpPr/>
          <p:nvPr/>
        </p:nvSpPr>
        <p:spPr>
          <a:xfrm>
            <a:off x="530352" y="5257800"/>
            <a:ext cx="1920240" cy="1783080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46811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2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5879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2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Élégance</a:t>
            </a:r>
            <a:endParaRPr lang="en-US" sz="152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64008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90" dirty="0">
                <a:solidFill>
                  <a:srgbClr val="E6D9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lignes justes, une allure qui reste.</a:t>
            </a:r>
            <a:endParaRPr lang="en-US" sz="690" dirty="0"/>
          </a:p>
        </p:txBody>
      </p:sp>
      <p:sp>
        <p:nvSpPr>
          <p:cNvPr id="22" name="Shape 19"/>
          <p:cNvSpPr/>
          <p:nvPr/>
        </p:nvSpPr>
        <p:spPr>
          <a:xfrm>
            <a:off x="731520" y="6812280"/>
            <a:ext cx="612648" cy="0"/>
          </a:xfrm>
          <a:prstGeom prst="line">
            <a:avLst/>
          </a:prstGeom>
          <a:noFill/>
          <a:ln w="10160">
            <a:solidFill>
              <a:srgbClr val="B68A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88336" y="5257800"/>
            <a:ext cx="1920240" cy="1783080"/>
          </a:xfrm>
          <a:prstGeom prst="rect">
            <a:avLst/>
          </a:prstGeom>
          <a:solidFill>
            <a:srgbClr val="F5F0E9"/>
          </a:solidFill>
          <a:ln w="6350">
            <a:solidFill>
              <a:srgbClr val="D5C9B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89504" y="546811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20" dirty="0"/>
          </a:p>
        </p:txBody>
      </p:sp>
      <p:sp>
        <p:nvSpPr>
          <p:cNvPr id="25" name="Text 22"/>
          <p:cNvSpPr txBox="1"/>
          <p:nvPr/>
        </p:nvSpPr>
        <p:spPr>
          <a:xfrm>
            <a:off x="2889504" y="5879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Adaptable</a:t>
            </a:r>
            <a:endParaRPr lang="en-US" sz="1520" dirty="0"/>
          </a:p>
        </p:txBody>
      </p:sp>
      <p:sp>
        <p:nvSpPr>
          <p:cNvPr id="26" name="Text 23"/>
          <p:cNvSpPr txBox="1"/>
          <p:nvPr/>
        </p:nvSpPr>
        <p:spPr>
          <a:xfrm>
            <a:off x="2889504" y="64008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9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pièces au service de chaque personnalité.</a:t>
            </a:r>
            <a:endParaRPr lang="en-US" sz="690" dirty="0"/>
          </a:p>
        </p:txBody>
      </p:sp>
      <p:sp>
        <p:nvSpPr>
          <p:cNvPr id="27" name="Shape 24"/>
          <p:cNvSpPr/>
          <p:nvPr/>
        </p:nvSpPr>
        <p:spPr>
          <a:xfrm>
            <a:off x="2889504" y="6812280"/>
            <a:ext cx="612648" cy="0"/>
          </a:xfrm>
          <a:prstGeom prst="line">
            <a:avLst/>
          </a:prstGeom>
          <a:noFill/>
          <a:ln w="10160">
            <a:solidFill>
              <a:srgbClr val="D5C9B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46320" y="5257800"/>
            <a:ext cx="1920240" cy="1783080"/>
          </a:xfrm>
          <a:prstGeom prst="rect">
            <a:avLst/>
          </a:prstGeom>
          <a:solidFill>
            <a:srgbClr val="F5F0E9"/>
          </a:solidFill>
          <a:ln w="6350">
            <a:solidFill>
              <a:srgbClr val="D5C9B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47488" y="546811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20" dirty="0"/>
          </a:p>
        </p:txBody>
      </p:sp>
      <p:sp>
        <p:nvSpPr>
          <p:cNvPr id="30" name="Text 27"/>
          <p:cNvSpPr txBox="1"/>
          <p:nvPr/>
        </p:nvSpPr>
        <p:spPr>
          <a:xfrm>
            <a:off x="5047488" y="5879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Impeccable</a:t>
            </a:r>
            <a:endParaRPr lang="en-US" sz="1520" dirty="0"/>
          </a:p>
        </p:txBody>
      </p:sp>
      <p:sp>
        <p:nvSpPr>
          <p:cNvPr id="31" name="Text 28"/>
          <p:cNvSpPr txBox="1"/>
          <p:nvPr/>
        </p:nvSpPr>
        <p:spPr>
          <a:xfrm>
            <a:off x="5047488" y="64008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9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précision comme standard, jusque dans la finition.</a:t>
            </a:r>
            <a:endParaRPr lang="en-US" sz="690" dirty="0"/>
          </a:p>
        </p:txBody>
      </p:sp>
      <p:sp>
        <p:nvSpPr>
          <p:cNvPr id="32" name="Shape 29"/>
          <p:cNvSpPr/>
          <p:nvPr/>
        </p:nvSpPr>
        <p:spPr>
          <a:xfrm>
            <a:off x="5047488" y="6812280"/>
            <a:ext cx="612648" cy="0"/>
          </a:xfrm>
          <a:prstGeom prst="line">
            <a:avLst/>
          </a:prstGeom>
          <a:noFill/>
          <a:ln w="10160">
            <a:solidFill>
              <a:srgbClr val="D5C9B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30352" y="7452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B68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34" name="Text 31"/>
          <p:cNvSpPr txBox="1"/>
          <p:nvPr/>
        </p:nvSpPr>
        <p:spPr>
          <a:xfrm>
            <a:off x="786384" y="76169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terre nous ancre. Notre travail nous élève.</a:t>
            </a:r>
            <a:endParaRPr lang="en-US" sz="14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 TROIS SIGNATURES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essentiels</a:t>
            </a:r>
            <a:endParaRPr lang="en-US" sz="242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4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maison.</a:t>
            </a:r>
            <a:endParaRPr lang="en-US" sz="242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04</a:t>
            </a:r>
            <a:endParaRPr lang="en-US" sz="5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911096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Trois pièces phares qui traduisent la vision HMG : le confort dans la coupe, la présence dans le détail et la tenue dans le temps.</a:t>
            </a:r>
            <a:endParaRPr lang="en-US" sz="760" dirty="0"/>
          </a:p>
        </p:txBody>
      </p:sp>
      <p:pic>
        <p:nvPicPr>
          <p:cNvPr id="9" name="Image 0" descr="/home/user/portfolio/WhatsApp Image 2026-10-05 at 00.40.13 (1)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2743200"/>
            <a:ext cx="2093976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0352" y="5029200"/>
            <a:ext cx="2093976" cy="457200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522122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spc="10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530352" y="5669280"/>
            <a:ext cx="2093976" cy="941832"/>
          </a:xfrm>
          <a:prstGeom prst="rect">
            <a:avLst/>
          </a:prstGeom>
          <a:solidFill>
            <a:srgbClr val="FCFAF6"/>
          </a:solidFill>
          <a:ln w="6350">
            <a:solidFill>
              <a:srgbClr val="D5C9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583387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1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homme</a:t>
            </a:r>
            <a:endParaRPr lang="en-US" sz="1160" dirty="0"/>
          </a:p>
          <a:p>
            <a:pPr algn="l" indent="0" marL="0">
              <a:lnSpc>
                <a:spcPct val="93000"/>
              </a:lnSpc>
              <a:buNone/>
            </a:pPr>
            <a:r>
              <a:rPr lang="en-US" sz="11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tissu crêpe</a:t>
            </a:r>
            <a:endParaRPr lang="en-US" sz="116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09360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1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Souple, posé, résolument distingué.</a:t>
            </a:r>
            <a:endParaRPr lang="en-US" sz="615" dirty="0"/>
          </a:p>
        </p:txBody>
      </p:sp>
      <p:pic>
        <p:nvPicPr>
          <p:cNvPr id="15" name="Image 1" descr="/home/user/portfolio/WhatsApp Image 2026-10-05 at 00.38.17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34640" y="2743200"/>
            <a:ext cx="2093976" cy="2743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834640" y="5029200"/>
            <a:ext cx="2093976" cy="457200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90088" y="522122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spc="10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00" dirty="0"/>
          </a:p>
        </p:txBody>
      </p:sp>
      <p:sp>
        <p:nvSpPr>
          <p:cNvPr id="18" name="Shape 14"/>
          <p:cNvSpPr/>
          <p:nvPr/>
        </p:nvSpPr>
        <p:spPr>
          <a:xfrm>
            <a:off x="2834640" y="5669280"/>
            <a:ext cx="2093976" cy="941832"/>
          </a:xfrm>
          <a:prstGeom prst="rect">
            <a:avLst/>
          </a:prstGeom>
          <a:solidFill>
            <a:srgbClr val="FCFAF6"/>
          </a:solidFill>
          <a:ln w="6350">
            <a:solidFill>
              <a:srgbClr val="D5C9B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990088" y="583387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1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Pantalon classique</a:t>
            </a:r>
            <a:endParaRPr lang="en-US" sz="1160" dirty="0"/>
          </a:p>
          <a:p>
            <a:pPr algn="l" indent="0" marL="0">
              <a:lnSpc>
                <a:spcPct val="93000"/>
              </a:lnSpc>
              <a:buNone/>
            </a:pPr>
            <a:r>
              <a:rPr lang="en-US" sz="11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homme</a:t>
            </a:r>
            <a:endParaRPr lang="en-US" sz="1160" dirty="0"/>
          </a:p>
        </p:txBody>
      </p:sp>
      <p:sp>
        <p:nvSpPr>
          <p:cNvPr id="20" name="Text 16"/>
          <p:cNvSpPr txBox="1"/>
          <p:nvPr/>
        </p:nvSpPr>
        <p:spPr>
          <a:xfrm>
            <a:off x="2990088" y="6309360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1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ligne nette pour le quotidien et les grands jours.</a:t>
            </a:r>
            <a:endParaRPr lang="en-US" sz="615" dirty="0"/>
          </a:p>
        </p:txBody>
      </p:sp>
      <p:pic>
        <p:nvPicPr>
          <p:cNvPr id="21" name="Image 2" descr="/home/user/portfolio/WhatsApp Image 2026-10-05 at 00.38.30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38928" y="2743200"/>
            <a:ext cx="2093976" cy="27432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138928" y="5029200"/>
            <a:ext cx="2093976" cy="457200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294376" y="522122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" b="1" spc="10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00" dirty="0"/>
          </a:p>
        </p:txBody>
      </p:sp>
      <p:sp>
        <p:nvSpPr>
          <p:cNvPr id="24" name="Shape 19"/>
          <p:cNvSpPr/>
          <p:nvPr/>
        </p:nvSpPr>
        <p:spPr>
          <a:xfrm>
            <a:off x="5138928" y="5669280"/>
            <a:ext cx="2093976" cy="941832"/>
          </a:xfrm>
          <a:prstGeom prst="rect">
            <a:avLst/>
          </a:prstGeom>
          <a:solidFill>
            <a:srgbClr val="FCFAF6"/>
          </a:solidFill>
          <a:ln w="6350">
            <a:solidFill>
              <a:srgbClr val="D5C9B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94376" y="583387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1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Robe droite</a:t>
            </a:r>
            <a:endParaRPr lang="en-US" sz="1160" dirty="0"/>
          </a:p>
          <a:p>
            <a:pPr algn="l" indent="0" marL="0">
              <a:lnSpc>
                <a:spcPct val="93000"/>
              </a:lnSpc>
              <a:buNone/>
            </a:pPr>
            <a:r>
              <a:rPr lang="en-US" sz="11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tissu stretch</a:t>
            </a:r>
            <a:endParaRPr lang="en-US" sz="1160" dirty="0"/>
          </a:p>
        </p:txBody>
      </p:sp>
      <p:sp>
        <p:nvSpPr>
          <p:cNvPr id="26" name="Text 21"/>
          <p:cNvSpPr txBox="1"/>
          <p:nvPr/>
        </p:nvSpPr>
        <p:spPr>
          <a:xfrm>
            <a:off x="5294376" y="6309360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1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Épouser la silhouette, libérer le mouvement.</a:t>
            </a:r>
            <a:endParaRPr lang="en-US" sz="615" dirty="0"/>
          </a:p>
        </p:txBody>
      </p:sp>
      <p:sp>
        <p:nvSpPr>
          <p:cNvPr id="27" name="Text 22"/>
          <p:cNvSpPr txBox="1"/>
          <p:nvPr/>
        </p:nvSpPr>
        <p:spPr>
          <a:xfrm>
            <a:off x="530352" y="71140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3E27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PIÈCE HMG, C’EST UNE PIÈCE QUI TRAVAILLE POUR VOUS.</a:t>
            </a:r>
            <a:endParaRPr lang="en-US" sz="590" dirty="0"/>
          </a:p>
        </p:txBody>
      </p:sp>
      <p:sp>
        <p:nvSpPr>
          <p:cNvPr id="28" name="Shape 23"/>
          <p:cNvSpPr/>
          <p:nvPr/>
        </p:nvSpPr>
        <p:spPr>
          <a:xfrm>
            <a:off x="530352" y="7452360"/>
            <a:ext cx="6499281" cy="0"/>
          </a:xfrm>
          <a:prstGeom prst="line">
            <a:avLst/>
          </a:prstGeom>
          <a:noFill/>
          <a:ln w="12700">
            <a:solidFill>
              <a:srgbClr val="B68A5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CÉRÉMONIES &amp; MOMENTS FORTS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755C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sur-mesure</a:t>
            </a:r>
            <a:endParaRPr lang="en-US" sz="24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 évidence.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6E55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D9C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D9C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05</a:t>
            </a:r>
            <a:endParaRPr lang="en-US" sz="500" dirty="0"/>
          </a:p>
        </p:txBody>
      </p:sp>
      <p:pic>
        <p:nvPicPr>
          <p:cNvPr id="8" name="Image 0" descr="/home/user/portfolio/WhatsApp Image 2026-10-05 at 00.38.2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078992"/>
            <a:ext cx="2715768" cy="1755648"/>
          </a:xfrm>
          <a:prstGeom prst="rect">
            <a:avLst/>
          </a:prstGeom>
        </p:spPr>
      </p:pic>
      <p:pic>
        <p:nvPicPr>
          <p:cNvPr id="9" name="Image 1" descr="/home/user/portfolio/WhatsApp Image 2026-10-05 at 00.38.20 (1)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2761488"/>
            <a:ext cx="2148840" cy="2889504"/>
          </a:xfrm>
          <a:prstGeom prst="rect">
            <a:avLst/>
          </a:prstGeom>
        </p:spPr>
      </p:pic>
      <p:pic>
        <p:nvPicPr>
          <p:cNvPr id="10" name="Image 2" descr="/home/user/portfolio/WhatsApp Image 2026-10-05 at 00.38.22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07792" y="2761488"/>
            <a:ext cx="4105656" cy="1399032"/>
          </a:xfrm>
          <a:prstGeom prst="rect">
            <a:avLst/>
          </a:prstGeom>
        </p:spPr>
      </p:pic>
      <p:pic>
        <p:nvPicPr>
          <p:cNvPr id="11" name="Image 3" descr="/home/user/portfolio/WhatsApp Image 2026-10-05 at 00.38.25 (1)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07792" y="4315968"/>
            <a:ext cx="1993392" cy="1335024"/>
          </a:xfrm>
          <a:prstGeom prst="rect">
            <a:avLst/>
          </a:prstGeom>
        </p:spPr>
      </p:pic>
      <p:pic>
        <p:nvPicPr>
          <p:cNvPr id="12" name="Image 4" descr="/home/user/portfolio/WhatsApp Image 2026-10-05 at 00.38.20.jpe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0056" y="4315968"/>
            <a:ext cx="1993392" cy="133502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30352" y="60716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CELLES ET CEUX QUI MARQUENT LEUR PASSAGE</a:t>
            </a:r>
            <a:endParaRPr lang="en-US" sz="590" dirty="0"/>
          </a:p>
        </p:txBody>
      </p:sp>
      <p:sp>
        <p:nvSpPr>
          <p:cNvPr id="14" name="Text 7"/>
          <p:cNvSpPr txBox="1"/>
          <p:nvPr/>
        </p:nvSpPr>
        <p:spPr>
          <a:xfrm>
            <a:off x="530352" y="6446520"/>
            <a:ext cx="60167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Mariage civil ou religieux, dot, réception : HMG accompagne les cérémonies avec des silhouettes à la hauteur de l’histoire.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SILHOUETTES FEMME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291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0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ligne épouse</a:t>
            </a:r>
            <a:endParaRPr lang="en-US" sz="24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40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personnalité.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06</a:t>
            </a:r>
            <a:endParaRPr lang="en-US" sz="500" dirty="0"/>
          </a:p>
        </p:txBody>
      </p:sp>
      <p:pic>
        <p:nvPicPr>
          <p:cNvPr id="8" name="Image 0" descr="/home/user/portfolio/WhatsApp Image 2026-10-05 at 00.38.3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0" y="1060704"/>
            <a:ext cx="2807208" cy="31546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0352" y="24505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FÉMINITÉ EN MOUVEMENT</a:t>
            </a:r>
            <a:endParaRPr lang="en-US" sz="59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2807208"/>
            <a:ext cx="30723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robe structurée à la tenue de cérémonie, chaque construction cherche l’équilibre entre maintien, aisance et lumière.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530352" y="4288536"/>
            <a:ext cx="3072384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" y="4617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vêtement n’impose pas une façon d’être : il révèle une présence.</a:t>
            </a:r>
            <a:endParaRPr lang="en-US" sz="760" dirty="0"/>
          </a:p>
        </p:txBody>
      </p:sp>
      <p:pic>
        <p:nvPicPr>
          <p:cNvPr id="13" name="Image 1" descr="/home/user/portfolio/WhatsApp Image 2026-10-05 at 00.38.25 (2)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5797296"/>
            <a:ext cx="1956816" cy="1591056"/>
          </a:xfrm>
          <a:prstGeom prst="rect">
            <a:avLst/>
          </a:prstGeom>
        </p:spPr>
      </p:pic>
      <p:pic>
        <p:nvPicPr>
          <p:cNvPr id="14" name="Image 2" descr="/home/user/portfolio/WhatsApp Image 2026-10-05 at 00.38.18 (1)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15768" y="5797296"/>
            <a:ext cx="2121408" cy="1591056"/>
          </a:xfrm>
          <a:prstGeom prst="rect">
            <a:avLst/>
          </a:prstGeom>
        </p:spPr>
      </p:pic>
      <p:pic>
        <p:nvPicPr>
          <p:cNvPr id="15" name="Image 3" descr="/home/user/portfolio/WhatsApp Image 2026-10-05 at 00.38.26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0" y="5797296"/>
            <a:ext cx="1984248" cy="15910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30352" y="764438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5" b="1" spc="160" kern="0" dirty="0">
                <a:solidFill>
                  <a:srgbClr val="3E27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 DROITE STRETCH · TENUES DE CÉRÉMONIE · PIÈCES SUR MESURE</a:t>
            </a:r>
            <a:endParaRPr lang="en-US" sz="54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SILHOUETTES HOMME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474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L’assurance</a:t>
            </a:r>
            <a:endParaRPr lang="en-US" sz="246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4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la coupe.</a:t>
            </a:r>
            <a:endParaRPr lang="en-US" sz="246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07</a:t>
            </a:r>
            <a:endParaRPr lang="en-US" sz="500" dirty="0"/>
          </a:p>
        </p:txBody>
      </p:sp>
      <p:pic>
        <p:nvPicPr>
          <p:cNvPr id="8" name="Image 0" descr="/home/user/portfolio/WhatsApp Image 2026-10-05 at 00.40.13 (1)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2121408"/>
            <a:ext cx="3136392" cy="3291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986784" y="2121408"/>
            <a:ext cx="3026664" cy="1325880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33672" y="2423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VESTIAIRE HMG</a:t>
            </a:r>
            <a:endParaRPr lang="en-US" sz="590" dirty="0"/>
          </a:p>
        </p:txBody>
      </p:sp>
      <p:sp>
        <p:nvSpPr>
          <p:cNvPr id="11" name="Text 8"/>
          <p:cNvSpPr txBox="1"/>
          <p:nvPr/>
        </p:nvSpPr>
        <p:spPr>
          <a:xfrm>
            <a:off x="4233672" y="278892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Classique ou traditionnel, le même parti pris : une posture nette et une élégance sans effort.</a:t>
            </a:r>
            <a:endParaRPr lang="en-US" sz="1250" dirty="0"/>
          </a:p>
        </p:txBody>
      </p:sp>
      <p:pic>
        <p:nvPicPr>
          <p:cNvPr id="12" name="Image 1" descr="/home/user/portfolio/WhatsApp Image 2026-10-05 at 00.38.17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86784" y="3657600"/>
            <a:ext cx="1371600" cy="1755648"/>
          </a:xfrm>
          <a:prstGeom prst="rect">
            <a:avLst/>
          </a:prstGeom>
        </p:spPr>
      </p:pic>
      <p:pic>
        <p:nvPicPr>
          <p:cNvPr id="13" name="Image 2" descr="/home/user/portfolio/WhatsApp Image 2026-10-05 at 00.38.16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32704" y="3657600"/>
            <a:ext cx="1380744" cy="17556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" y="5989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B68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15" name="Text 10"/>
          <p:cNvSpPr txBox="1"/>
          <p:nvPr/>
        </p:nvSpPr>
        <p:spPr>
          <a:xfrm>
            <a:off x="786384" y="61539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3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allure qui vous ressemble, un tombé qui se remarque.</a:t>
            </a:r>
            <a:endParaRPr lang="en-US" sz="1530" dirty="0"/>
          </a:p>
        </p:txBody>
      </p:sp>
      <p:sp>
        <p:nvSpPr>
          <p:cNvPr id="16" name="Text 11"/>
          <p:cNvSpPr txBox="1"/>
          <p:nvPr/>
        </p:nvSpPr>
        <p:spPr>
          <a:xfrm>
            <a:off x="530352" y="71506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5" b="1" spc="160" kern="0" dirty="0">
                <a:solidFill>
                  <a:srgbClr val="3E27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ENSEMBLES HOMME · PANTALONS CLASSIQUES · TENUES D’APPARAT</a:t>
            </a:r>
            <a:endParaRPr lang="en-US" sz="53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SAVOIR-FAIRE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755C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détail</a:t>
            </a:r>
            <a:endParaRPr lang="en-US" sz="25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 la différence.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6E55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D9C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D9C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08</a:t>
            </a:r>
            <a:endParaRPr lang="en-US" sz="500" dirty="0"/>
          </a:p>
        </p:txBody>
      </p:sp>
      <p:pic>
        <p:nvPicPr>
          <p:cNvPr id="8" name="Image 0" descr="/home/user/portfolio/WhatsApp Image 2026-10-05 at 00.38.31 (1)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2249424"/>
            <a:ext cx="3127248" cy="2898648"/>
          </a:xfrm>
          <a:prstGeom prst="rect">
            <a:avLst/>
          </a:prstGeom>
        </p:spPr>
      </p:pic>
      <p:pic>
        <p:nvPicPr>
          <p:cNvPr id="9" name="Image 1" descr="/home/user/portfolio/WhatsApp Image 2026-10-05 at 00.38.26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04488" y="2249424"/>
            <a:ext cx="3108960" cy="28986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0352" y="5852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PRÉCISION EST NOTRE LANGAGE</a:t>
            </a:r>
            <a:endParaRPr lang="en-US" sz="590" dirty="0"/>
          </a:p>
        </p:txBody>
      </p:sp>
      <p:sp>
        <p:nvSpPr>
          <p:cNvPr id="11" name="Text 7"/>
          <p:cNvSpPr txBox="1"/>
          <p:nvPr/>
        </p:nvSpPr>
        <p:spPr>
          <a:xfrm>
            <a:off x="530352" y="620877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3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Finesse, justesse des proportions, attention aux finitions : HMG transforme le tissu en une signature que l’on voit de près comme de loin.</a:t>
            </a:r>
            <a:endParaRPr lang="en-US" sz="1330" dirty="0"/>
          </a:p>
        </p:txBody>
      </p:sp>
      <p:sp>
        <p:nvSpPr>
          <p:cNvPr id="12" name="Shape 8"/>
          <p:cNvSpPr/>
          <p:nvPr/>
        </p:nvSpPr>
        <p:spPr>
          <a:xfrm>
            <a:off x="530352" y="7635240"/>
            <a:ext cx="6499281" cy="0"/>
          </a:xfrm>
          <a:prstGeom prst="line">
            <a:avLst/>
          </a:prstGeom>
          <a:noFill/>
          <a:ln w="6985">
            <a:solidFill>
              <a:srgbClr val="755C5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0352" y="787298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70" b="1" spc="11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CONFORT  /  DURABILITÉ  /  HAUTE GAMME</a:t>
            </a:r>
            <a:endParaRPr lang="en-US" sz="5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HISTOIRE FORTE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474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saison,</a:t>
            </a:r>
            <a:endParaRPr lang="en-US" sz="242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4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quinze tenues.</a:t>
            </a:r>
            <a:endParaRPr lang="en-US" sz="242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09</a:t>
            </a:r>
            <a:endParaRPr lang="en-US" sz="5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1488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MARIAGE : DOT · CIVIL · RELIGIEUX</a:t>
            </a:r>
            <a:endParaRPr lang="en-US" sz="59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523744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premier grand défi de la maison : habiller une mariée, son marié, la mère de la mariée et les demoiselles d’honneur pour l’ensemble des cérémonies.</a:t>
            </a:r>
            <a:endParaRPr lang="en-US" sz="1240" dirty="0"/>
          </a:p>
        </p:txBody>
      </p:sp>
      <p:pic>
        <p:nvPicPr>
          <p:cNvPr id="10" name="Image 0" descr="/home/user/portfolio/WhatsApp Image 2026-10-05 at 00.40.13 (2)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1124712"/>
            <a:ext cx="2624328" cy="23591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30352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68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530352" y="4882896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tenues à coordonner</a:t>
            </a:r>
            <a:endParaRPr lang="en-US" sz="575" dirty="0"/>
          </a:p>
        </p:txBody>
      </p:sp>
      <p:sp>
        <p:nvSpPr>
          <p:cNvPr id="13" name="Text 10"/>
          <p:cNvSpPr txBox="1"/>
          <p:nvPr/>
        </p:nvSpPr>
        <p:spPr>
          <a:xfrm>
            <a:off x="1728216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68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728216" y="4882896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 engagée pour tenir le délai</a:t>
            </a:r>
            <a:endParaRPr lang="en-US" sz="575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68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4882896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finitions supervisées</a:t>
            </a:r>
            <a:endParaRPr lang="en-US" sz="575" dirty="0"/>
          </a:p>
        </p:txBody>
      </p:sp>
      <p:sp>
        <p:nvSpPr>
          <p:cNvPr id="17" name="Shape 14"/>
          <p:cNvSpPr/>
          <p:nvPr/>
        </p:nvSpPr>
        <p:spPr>
          <a:xfrm>
            <a:off x="530352" y="5431536"/>
            <a:ext cx="3364992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" y="5687568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01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Malgré le retard des tissus commandés au Nigeria et le temps compté, Ange-Marie a organisé l’équipe, dirigé les étapes de décoration et veillé personnellement à chaque finition.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4233672" y="4553712"/>
            <a:ext cx="2779776" cy="329184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88536" y="4617720"/>
            <a:ext cx="2670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1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: UNE HISTOIRE PORTÉE AVEC COHÉRENCE.</a:t>
            </a:r>
            <a:endParaRPr lang="en-US" sz="510" dirty="0"/>
          </a:p>
        </p:txBody>
      </p:sp>
      <p:pic>
        <p:nvPicPr>
          <p:cNvPr id="21" name="Image 1" descr="/home/user/portfolio/WhatsApp Image 2026-10-05 at 00.38.21 (1)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7132320"/>
            <a:ext cx="1965960" cy="1243584"/>
          </a:xfrm>
          <a:prstGeom prst="rect">
            <a:avLst/>
          </a:prstGeom>
        </p:spPr>
      </p:pic>
      <p:pic>
        <p:nvPicPr>
          <p:cNvPr id="22" name="Image 2" descr="/home/user/portfolio/WhatsApp Image 2026-10-05 at 00.38.22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97480" y="7132320"/>
            <a:ext cx="1965960" cy="1243584"/>
          </a:xfrm>
          <a:prstGeom prst="rect">
            <a:avLst/>
          </a:prstGeom>
        </p:spPr>
      </p:pic>
      <p:pic>
        <p:nvPicPr>
          <p:cNvPr id="23" name="Image 3" descr="/home/user/portfolio/WhatsApp Image 2026-10-05 at 00.38.33 (1)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73752" y="7132320"/>
            <a:ext cx="2139696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L’ATELIER HMG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474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8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l’idée</a:t>
            </a:r>
            <a:endParaRPr lang="en-US" sz="248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48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 dernier point.</a:t>
            </a:r>
            <a:endParaRPr lang="en-US" sz="248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10</a:t>
            </a:r>
            <a:endParaRPr lang="en-US" sz="500" dirty="0"/>
          </a:p>
        </p:txBody>
      </p:sp>
      <p:pic>
        <p:nvPicPr>
          <p:cNvPr id="8" name="Image 0" descr="/home/user/portfolio/WhatsApp Image 2026-10-05 at 00.40.1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069848"/>
            <a:ext cx="2715768" cy="2240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0352" y="24231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5" b="1" spc="105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25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26334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Écouter</a:t>
            </a:r>
            <a:endParaRPr lang="en-US" sz="1340" dirty="0"/>
          </a:p>
        </p:txBody>
      </p:sp>
      <p:sp>
        <p:nvSpPr>
          <p:cNvPr id="11" name="Text 8"/>
          <p:cNvSpPr txBox="1"/>
          <p:nvPr/>
        </p:nvSpPr>
        <p:spPr>
          <a:xfrm>
            <a:off x="2130552" y="2679192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 l’occasion, la silhouette et l’intention.</a:t>
            </a:r>
            <a:endParaRPr lang="en-US" sz="695" dirty="0"/>
          </a:p>
        </p:txBody>
      </p:sp>
      <p:sp>
        <p:nvSpPr>
          <p:cNvPr id="12" name="Shape 9"/>
          <p:cNvSpPr/>
          <p:nvPr/>
        </p:nvSpPr>
        <p:spPr>
          <a:xfrm>
            <a:off x="530352" y="3136392"/>
            <a:ext cx="3401568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33375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5" b="1" spc="105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25" dirty="0"/>
          </a:p>
        </p:txBody>
      </p:sp>
      <p:sp>
        <p:nvSpPr>
          <p:cNvPr id="14" name="Text 11"/>
          <p:cNvSpPr txBox="1"/>
          <p:nvPr/>
        </p:nvSpPr>
        <p:spPr>
          <a:xfrm>
            <a:off x="530352" y="35478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Dessiner</a:t>
            </a:r>
            <a:endParaRPr lang="en-US" sz="1340" dirty="0"/>
          </a:p>
        </p:txBody>
      </p:sp>
      <p:sp>
        <p:nvSpPr>
          <p:cNvPr id="15" name="Text 12"/>
          <p:cNvSpPr txBox="1"/>
          <p:nvPr/>
        </p:nvSpPr>
        <p:spPr>
          <a:xfrm>
            <a:off x="2130552" y="3593592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Choisir les lignes, les matières et les détails utiles.</a:t>
            </a:r>
            <a:endParaRPr lang="en-US" sz="695" dirty="0"/>
          </a:p>
        </p:txBody>
      </p:sp>
      <p:sp>
        <p:nvSpPr>
          <p:cNvPr id="16" name="Shape 13"/>
          <p:cNvSpPr/>
          <p:nvPr/>
        </p:nvSpPr>
        <p:spPr>
          <a:xfrm>
            <a:off x="530352" y="4050792"/>
            <a:ext cx="3401568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" y="42519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5" b="1" spc="105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25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44622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Construire</a:t>
            </a:r>
            <a:endParaRPr lang="en-US" sz="1340" dirty="0"/>
          </a:p>
        </p:txBody>
      </p:sp>
      <p:sp>
        <p:nvSpPr>
          <p:cNvPr id="19" name="Text 16"/>
          <p:cNvSpPr txBox="1"/>
          <p:nvPr/>
        </p:nvSpPr>
        <p:spPr>
          <a:xfrm>
            <a:off x="2130552" y="4507992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Couper, ajuster et assembler avec soin.</a:t>
            </a:r>
            <a:endParaRPr lang="en-US" sz="695" dirty="0"/>
          </a:p>
        </p:txBody>
      </p:sp>
      <p:sp>
        <p:nvSpPr>
          <p:cNvPr id="20" name="Shape 17"/>
          <p:cNvSpPr/>
          <p:nvPr/>
        </p:nvSpPr>
        <p:spPr>
          <a:xfrm>
            <a:off x="530352" y="4965192"/>
            <a:ext cx="3401568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0352" y="51663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5" b="1" spc="105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525" dirty="0"/>
          </a:p>
        </p:txBody>
      </p:sp>
      <p:sp>
        <p:nvSpPr>
          <p:cNvPr id="22" name="Text 19"/>
          <p:cNvSpPr txBox="1"/>
          <p:nvPr/>
        </p:nvSpPr>
        <p:spPr>
          <a:xfrm>
            <a:off x="530352" y="53766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Finaliser</a:t>
            </a:r>
            <a:endParaRPr lang="en-US" sz="1340" dirty="0"/>
          </a:p>
        </p:txBody>
      </p:sp>
      <p:sp>
        <p:nvSpPr>
          <p:cNvPr id="23" name="Text 20"/>
          <p:cNvSpPr txBox="1"/>
          <p:nvPr/>
        </p:nvSpPr>
        <p:spPr>
          <a:xfrm>
            <a:off x="2130552" y="5422392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5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Contrôler le tombé et signer chaque finition.</a:t>
            </a:r>
            <a:endParaRPr lang="en-US" sz="695" dirty="0"/>
          </a:p>
        </p:txBody>
      </p:sp>
      <p:sp>
        <p:nvSpPr>
          <p:cNvPr id="24" name="Shape 21"/>
          <p:cNvSpPr/>
          <p:nvPr/>
        </p:nvSpPr>
        <p:spPr>
          <a:xfrm>
            <a:off x="4297680" y="3621024"/>
            <a:ext cx="2715768" cy="1444752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44568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POINT D’HONNEUR</a:t>
            </a:r>
            <a:endParaRPr lang="en-US" sz="590" dirty="0"/>
          </a:p>
        </p:txBody>
      </p:sp>
      <p:sp>
        <p:nvSpPr>
          <p:cNvPr id="26" name="Text 23"/>
          <p:cNvSpPr txBox="1"/>
          <p:nvPr/>
        </p:nvSpPr>
        <p:spPr>
          <a:xfrm>
            <a:off x="4544568" y="430682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3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vêtement doit être aussi juste à porter qu’à regarder.</a:t>
            </a:r>
            <a:endParaRPr lang="en-US" sz="1330" dirty="0"/>
          </a:p>
        </p:txBody>
      </p:sp>
      <p:pic>
        <p:nvPicPr>
          <p:cNvPr id="27" name="Image 1" descr="/home/user/portfolio/WhatsApp Image 2026-10-05 at 00.38.31 (1)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5294376"/>
            <a:ext cx="1271016" cy="1225296"/>
          </a:xfrm>
          <a:prstGeom prst="rect">
            <a:avLst/>
          </a:prstGeom>
        </p:spPr>
      </p:pic>
      <p:pic>
        <p:nvPicPr>
          <p:cNvPr id="28" name="Image 2" descr="/home/user/portfolio/WhatsApp Image 2026-10-05 at 00.38.26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42432" y="5294376"/>
            <a:ext cx="1271016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BRANDING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8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L’artisan</a:t>
            </a:r>
            <a:endParaRPr lang="en-US" sz="248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48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derrière la maison.</a:t>
            </a:r>
            <a:endParaRPr lang="en-US" sz="248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11</a:t>
            </a:r>
            <a:endParaRPr lang="en-US" sz="500" dirty="0"/>
          </a:p>
        </p:txBody>
      </p:sp>
      <p:pic>
        <p:nvPicPr>
          <p:cNvPr id="8" name="Image 0" descr="/home/user/portfolio/WhatsApp Image 2026-10-05 at 00.38.17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2048256"/>
            <a:ext cx="2852928" cy="33284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703320" y="20848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0" b="1" spc="160" kern="0" dirty="0">
                <a:solidFill>
                  <a:srgbClr val="3E27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HOUEMAGNON ANGE-MARIE MAHOUNA COOVI PEGAZ FIDÈL</a:t>
            </a:r>
            <a:endParaRPr lang="en-US" sz="49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2468880"/>
            <a:ext cx="2862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3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Technicien de Mode Vêtements, styliste-modéliste et accessoiriste béninois.</a:t>
            </a:r>
            <a:endParaRPr lang="en-US" sz="1330" dirty="0"/>
          </a:p>
        </p:txBody>
      </p:sp>
      <p:sp>
        <p:nvSpPr>
          <p:cNvPr id="11" name="Shape 8"/>
          <p:cNvSpPr/>
          <p:nvPr/>
        </p:nvSpPr>
        <p:spPr>
          <a:xfrm>
            <a:off x="3703320" y="3502152"/>
            <a:ext cx="2862072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03320" y="3822192"/>
            <a:ext cx="2834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3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Passionné par les métiers de la mode, l’art culinaire, le bricolage et tout ce qui peut prendre forme à la main. J’aime les documentaires et les films instructifs, les temps de création et les réflexions qui font mûrir une idée.</a:t>
            </a:r>
            <a:endParaRPr lang="en-US" sz="73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5367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IDENTITÉ</a:t>
            </a:r>
            <a:endParaRPr lang="en-US" sz="590" dirty="0"/>
          </a:p>
        </p:txBody>
      </p:sp>
      <p:sp>
        <p:nvSpPr>
          <p:cNvPr id="14" name="Text 11"/>
          <p:cNvSpPr txBox="1"/>
          <p:nvPr/>
        </p:nvSpPr>
        <p:spPr>
          <a:xfrm>
            <a:off x="3703320" y="566013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3E27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Sérieux · Joyeux · Professionnel</a:t>
            </a:r>
            <a:endParaRPr lang="en-US" sz="780" dirty="0"/>
          </a:p>
        </p:txBody>
      </p:sp>
      <p:sp>
        <p:nvSpPr>
          <p:cNvPr id="15" name="Text 12"/>
          <p:cNvSpPr txBox="1"/>
          <p:nvPr/>
        </p:nvSpPr>
        <p:spPr>
          <a:xfrm>
            <a:off x="530352" y="64190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B68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" y="65836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4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Héritier du fil, créateur de style.</a:t>
            </a:r>
            <a:endParaRPr lang="en-US" sz="1740" dirty="0"/>
          </a:p>
        </p:txBody>
      </p:sp>
      <p:sp>
        <p:nvSpPr>
          <p:cNvPr id="17" name="Text 14"/>
          <p:cNvSpPr txBox="1"/>
          <p:nvPr/>
        </p:nvSpPr>
        <p:spPr>
          <a:xfrm>
            <a:off x="530352" y="746150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spc="3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Signature personnelle</a:t>
            </a:r>
            <a:endParaRPr lang="en-US" sz="5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PARCOURS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48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Apprendre,</a:t>
            </a:r>
            <a:endParaRPr lang="en-US" sz="248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48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pratiquer, élever.</a:t>
            </a:r>
            <a:endParaRPr lang="en-US" sz="248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12</a:t>
            </a:r>
            <a:endParaRPr lang="en-US" sz="500" dirty="0"/>
          </a:p>
        </p:txBody>
      </p:sp>
      <p:pic>
        <p:nvPicPr>
          <p:cNvPr id="8" name="Image 0" descr="/home/user/portfolio/WhatsApp Image 2026-10-05 at 00.40.15 (1)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15968" y="1078992"/>
            <a:ext cx="2697480" cy="22677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0352" y="22677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70" b="1" spc="11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2007—2020</a:t>
            </a:r>
            <a:endParaRPr lang="en-US" sz="57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25237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Cursus général</a:t>
            </a:r>
            <a:endParaRPr lang="en-US" sz="146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2926080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1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maternelle à la classe de 2nde D.</a:t>
            </a:r>
            <a:endParaRPr lang="en-US" sz="710" dirty="0"/>
          </a:p>
        </p:txBody>
      </p:sp>
      <p:sp>
        <p:nvSpPr>
          <p:cNvPr id="12" name="Shape 9"/>
          <p:cNvSpPr/>
          <p:nvPr/>
        </p:nvSpPr>
        <p:spPr>
          <a:xfrm>
            <a:off x="530352" y="3236976"/>
            <a:ext cx="3172968" cy="0"/>
          </a:xfrm>
          <a:prstGeom prst="line">
            <a:avLst/>
          </a:prstGeom>
          <a:noFill/>
          <a:ln w="6604">
            <a:solidFill>
              <a:srgbClr val="D5C9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338328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70" b="1" spc="11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2020—2023</a:t>
            </a:r>
            <a:endParaRPr lang="en-US" sz="570" dirty="0"/>
          </a:p>
        </p:txBody>
      </p:sp>
      <p:sp>
        <p:nvSpPr>
          <p:cNvPr id="14" name="Text 11"/>
          <p:cNvSpPr txBox="1"/>
          <p:nvPr/>
        </p:nvSpPr>
        <p:spPr>
          <a:xfrm>
            <a:off x="530352" y="3639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Formation MMV</a:t>
            </a:r>
            <a:endParaRPr lang="en-US" sz="1460" dirty="0"/>
          </a:p>
        </p:txBody>
      </p:sp>
      <p:sp>
        <p:nvSpPr>
          <p:cNvPr id="15" name="Text 12"/>
          <p:cNvSpPr txBox="1"/>
          <p:nvPr/>
        </p:nvSpPr>
        <p:spPr>
          <a:xfrm>
            <a:off x="530352" y="4041648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1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Lycée Technique d’Amitié Sino-Béninois d’Akassato · Métier de la Mode-Vêtement.</a:t>
            </a:r>
            <a:endParaRPr lang="en-US" sz="710" dirty="0"/>
          </a:p>
        </p:txBody>
      </p:sp>
      <p:sp>
        <p:nvSpPr>
          <p:cNvPr id="16" name="Shape 13"/>
          <p:cNvSpPr/>
          <p:nvPr/>
        </p:nvSpPr>
        <p:spPr>
          <a:xfrm>
            <a:off x="530352" y="4352544"/>
            <a:ext cx="3172968" cy="0"/>
          </a:xfrm>
          <a:prstGeom prst="line">
            <a:avLst/>
          </a:prstGeom>
          <a:noFill/>
          <a:ln w="6604">
            <a:solidFill>
              <a:srgbClr val="D5C9B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" y="449884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70" b="1" spc="11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DIPLÔME</a:t>
            </a:r>
            <a:endParaRPr lang="en-US" sz="57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4754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6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Technicien de Mode</a:t>
            </a:r>
            <a:endParaRPr lang="en-US" sz="146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515721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1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Obtenu avec mention bien. Une vocation portée par l’amour du métier.</a:t>
            </a:r>
            <a:endParaRPr lang="en-US" sz="710" dirty="0"/>
          </a:p>
        </p:txBody>
      </p:sp>
      <p:sp>
        <p:nvSpPr>
          <p:cNvPr id="20" name="Shape 17"/>
          <p:cNvSpPr/>
          <p:nvPr/>
        </p:nvSpPr>
        <p:spPr>
          <a:xfrm>
            <a:off x="4315968" y="3621024"/>
            <a:ext cx="2697480" cy="1435608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62856" y="3931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590" dirty="0"/>
          </a:p>
        </p:txBody>
      </p:sp>
      <p:sp>
        <p:nvSpPr>
          <p:cNvPr id="22" name="Text 19"/>
          <p:cNvSpPr txBox="1"/>
          <p:nvPr/>
        </p:nvSpPr>
        <p:spPr>
          <a:xfrm>
            <a:off x="4562856" y="4306824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7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L’amour profond du métier et le goût du travail bien fait.</a:t>
            </a:r>
            <a:endParaRPr lang="en-US" sz="1370" dirty="0"/>
          </a:p>
        </p:txBody>
      </p:sp>
      <p:pic>
        <p:nvPicPr>
          <p:cNvPr id="23" name="Image 1" descr="/home/user/portfolio/WhatsApp Image 2026-10-05 at 00.40.15 (2)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15968" y="5294376"/>
            <a:ext cx="2697480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ME DISTINGUE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755C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53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respect</a:t>
            </a:r>
            <a:endParaRPr lang="en-US" sz="253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53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geste.</a:t>
            </a:r>
            <a:endParaRPr lang="en-US" sz="253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6E55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D9C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D9C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13</a:t>
            </a:r>
            <a:endParaRPr lang="en-US" sz="500" dirty="0"/>
          </a:p>
        </p:txBody>
      </p:sp>
      <p:pic>
        <p:nvPicPr>
          <p:cNvPr id="8" name="Image 0" descr="/home/user/portfolio/WhatsApp Image 2026-10-05 at 00.40.16 (2)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078992"/>
            <a:ext cx="2715768" cy="2514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0352" y="245059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20" dirty="0"/>
          </a:p>
        </p:txBody>
      </p:sp>
      <p:sp>
        <p:nvSpPr>
          <p:cNvPr id="10" name="Text 7"/>
          <p:cNvSpPr txBox="1"/>
          <p:nvPr/>
        </p:nvSpPr>
        <p:spPr>
          <a:xfrm>
            <a:off x="1042416" y="2404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8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</a:t>
            </a:r>
            <a:endParaRPr lang="en-US" sz="1480" dirty="0"/>
          </a:p>
        </p:txBody>
      </p:sp>
      <p:sp>
        <p:nvSpPr>
          <p:cNvPr id="11" name="Text 8"/>
          <p:cNvSpPr txBox="1"/>
          <p:nvPr/>
        </p:nvSpPr>
        <p:spPr>
          <a:xfrm>
            <a:off x="1042416" y="281635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D8C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les personnes, les engagements et les matières.</a:t>
            </a:r>
            <a:endParaRPr lang="en-US" sz="690" dirty="0"/>
          </a:p>
        </p:txBody>
      </p:sp>
      <p:sp>
        <p:nvSpPr>
          <p:cNvPr id="12" name="Shape 9"/>
          <p:cNvSpPr/>
          <p:nvPr/>
        </p:nvSpPr>
        <p:spPr>
          <a:xfrm>
            <a:off x="1042416" y="3200400"/>
            <a:ext cx="2414016" cy="0"/>
          </a:xfrm>
          <a:prstGeom prst="line">
            <a:avLst/>
          </a:prstGeom>
          <a:noFill/>
          <a:ln w="6350">
            <a:solidFill>
              <a:srgbClr val="7159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34747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2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" y="3429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8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Dévotion</a:t>
            </a:r>
            <a:endParaRPr lang="en-US" sz="1480" dirty="0"/>
          </a:p>
        </p:txBody>
      </p:sp>
      <p:sp>
        <p:nvSpPr>
          <p:cNvPr id="15" name="Text 12"/>
          <p:cNvSpPr txBox="1"/>
          <p:nvPr/>
        </p:nvSpPr>
        <p:spPr>
          <a:xfrm>
            <a:off x="1042416" y="384048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D8C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la tâche, le détail et le délai.</a:t>
            </a:r>
            <a:endParaRPr lang="en-US" sz="690" dirty="0"/>
          </a:p>
        </p:txBody>
      </p:sp>
      <p:sp>
        <p:nvSpPr>
          <p:cNvPr id="16" name="Shape 13"/>
          <p:cNvSpPr/>
          <p:nvPr/>
        </p:nvSpPr>
        <p:spPr>
          <a:xfrm>
            <a:off x="1042416" y="4224528"/>
            <a:ext cx="2414016" cy="0"/>
          </a:xfrm>
          <a:prstGeom prst="line">
            <a:avLst/>
          </a:prstGeom>
          <a:noFill/>
          <a:ln w="6350">
            <a:solidFill>
              <a:srgbClr val="71594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" y="449884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20" dirty="0"/>
          </a:p>
        </p:txBody>
      </p:sp>
      <p:sp>
        <p:nvSpPr>
          <p:cNvPr id="18" name="Text 15"/>
          <p:cNvSpPr txBox="1"/>
          <p:nvPr/>
        </p:nvSpPr>
        <p:spPr>
          <a:xfrm>
            <a:off x="1042416" y="4453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8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Perfection</a:t>
            </a:r>
            <a:endParaRPr lang="en-US" sz="1480" dirty="0"/>
          </a:p>
        </p:txBody>
      </p:sp>
      <p:sp>
        <p:nvSpPr>
          <p:cNvPr id="19" name="Text 16"/>
          <p:cNvSpPr txBox="1"/>
          <p:nvPr/>
        </p:nvSpPr>
        <p:spPr>
          <a:xfrm>
            <a:off x="1042416" y="486460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D8C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la finition qui fait toute la différence.</a:t>
            </a:r>
            <a:endParaRPr lang="en-US" sz="690" dirty="0"/>
          </a:p>
        </p:txBody>
      </p:sp>
      <p:sp>
        <p:nvSpPr>
          <p:cNvPr id="20" name="Shape 17"/>
          <p:cNvSpPr/>
          <p:nvPr/>
        </p:nvSpPr>
        <p:spPr>
          <a:xfrm>
            <a:off x="1042416" y="5248656"/>
            <a:ext cx="2414016" cy="0"/>
          </a:xfrm>
          <a:prstGeom prst="line">
            <a:avLst/>
          </a:prstGeom>
          <a:noFill/>
          <a:ln w="6350">
            <a:solidFill>
              <a:srgbClr val="7159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0352" y="6400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 PERSONNEL</a:t>
            </a:r>
            <a:endParaRPr lang="en-US" sz="590" dirty="0"/>
          </a:p>
        </p:txBody>
      </p:sp>
      <p:sp>
        <p:nvSpPr>
          <p:cNvPr id="22" name="Text 19"/>
          <p:cNvSpPr txBox="1"/>
          <p:nvPr/>
        </p:nvSpPr>
        <p:spPr>
          <a:xfrm>
            <a:off x="530352" y="6757416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 quotidien : l’ensemble homme. Pour sortir : pantalons amples, chemises en soie diamant et autres expressions du style masculin.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48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SUR DEMAIN</a:t>
            </a:r>
            <a:endParaRPr lang="en-US" sz="590" dirty="0"/>
          </a:p>
        </p:txBody>
      </p:sp>
      <p:sp>
        <p:nvSpPr>
          <p:cNvPr id="3" name="Shape 1"/>
          <p:cNvSpPr/>
          <p:nvPr/>
        </p:nvSpPr>
        <p:spPr>
          <a:xfrm>
            <a:off x="530352" y="667512"/>
            <a:ext cx="6499281" cy="0"/>
          </a:xfrm>
          <a:prstGeom prst="line">
            <a:avLst/>
          </a:prstGeom>
          <a:noFill/>
          <a:ln w="6985">
            <a:solidFill>
              <a:srgbClr val="D5C9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877824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253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ambition</a:t>
            </a:r>
            <a:endParaRPr lang="en-US" sz="253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253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se porte.</a:t>
            </a:r>
            <a:endParaRPr lang="en-US" sz="2530" dirty="0"/>
          </a:p>
        </p:txBody>
      </p:sp>
      <p:sp>
        <p:nvSpPr>
          <p:cNvPr id="5" name="Shape 3"/>
          <p:cNvSpPr/>
          <p:nvPr/>
        </p:nvSpPr>
        <p:spPr>
          <a:xfrm>
            <a:off x="530352" y="10243932"/>
            <a:ext cx="6499281" cy="0"/>
          </a:xfrm>
          <a:prstGeom prst="line">
            <a:avLst/>
          </a:prstGeom>
          <a:noFill/>
          <a:ln w="5715">
            <a:solidFill>
              <a:srgbClr val="D5C9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32622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115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ANGE HMG HOME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5109393" y="103262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00" spc="70" kern="0" dirty="0">
                <a:solidFill>
                  <a:srgbClr val="7C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DOSSIER DE MARQUE  /  14</a:t>
            </a:r>
            <a:endParaRPr lang="en-US" sz="500" dirty="0"/>
          </a:p>
        </p:txBody>
      </p:sp>
      <p:pic>
        <p:nvPicPr>
          <p:cNvPr id="8" name="Image 0" descr="/home/user/portfolio/WhatsApp Image 2026-10-05 at 00.38.18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33672" y="1069848"/>
            <a:ext cx="2779776" cy="21122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0352" y="23591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DANS 1 AN</a:t>
            </a:r>
            <a:endParaRPr lang="en-US" sz="59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2724912"/>
            <a:ext cx="3246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Cotonou dise : “HMG HOME, c’est la référence pour le classique, le moderne et le traditionnel.”</a:t>
            </a:r>
            <a:endParaRPr lang="en-US" sz="132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4498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B68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DANS 3 ANS</a:t>
            </a:r>
            <a:endParaRPr lang="en-US" sz="590" dirty="0"/>
          </a:p>
        </p:txBody>
      </p:sp>
      <p:sp>
        <p:nvSpPr>
          <p:cNvPr id="12" name="Text 9"/>
          <p:cNvSpPr txBox="1"/>
          <p:nvPr/>
        </p:nvSpPr>
        <p:spPr>
          <a:xfrm>
            <a:off x="530352" y="4864608"/>
            <a:ext cx="3246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Compter parmi les grandes références du Bénin et d’autres pays. Habiller les grandes personnalités et les stars. Diriger ma propre équipe.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4233672" y="3502152"/>
            <a:ext cx="2779776" cy="1929384"/>
          </a:xfrm>
          <a:prstGeom prst="rect">
            <a:avLst/>
          </a:prstGeom>
          <a:solidFill>
            <a:srgbClr val="3E2723"/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9704" y="38313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QUI ?</a:t>
            </a:r>
            <a:endParaRPr lang="en-US" sz="590" dirty="0"/>
          </a:p>
        </p:txBody>
      </p:sp>
      <p:sp>
        <p:nvSpPr>
          <p:cNvPr id="15" name="Text 12"/>
          <p:cNvSpPr txBox="1"/>
          <p:nvPr/>
        </p:nvSpPr>
        <p:spPr>
          <a:xfrm>
            <a:off x="4489704" y="4206240"/>
            <a:ext cx="2093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les hommes et les femmes — béninois et étrangers — discrets ou audacieux.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4489704" y="4983480"/>
            <a:ext cx="2066544" cy="0"/>
          </a:xfrm>
          <a:prstGeom prst="line">
            <a:avLst/>
          </a:prstGeom>
          <a:noFill/>
          <a:ln w="8890">
            <a:solidFill>
              <a:srgbClr val="B68A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9704" y="5175504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" b="1" spc="65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 · APPRENTIS · INVESTISSEURS</a:t>
            </a:r>
            <a:endParaRPr lang="en-US" sz="52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6995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B68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7159752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20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Prendre son travail au sérieux et bien à cœur, en toute circonstance, sans distinction.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WhatsApp Image 2026-10-05 at 00.38.14.jpeg">    </p:cNvPr>
          <p:cNvPicPr>
            <a:picLocks noChangeAspect="1"/>
          </p:cNvPicPr>
          <p:nvPr/>
        </p:nvPicPr>
        <p:blipFill>
          <a:blip r:embed="rId1">
            <a:alphaModFix amt="83000"/>
          </a:blip>
          <a:srcRect l="0" r="0" t="0" b="0"/>
          <a:stretch/>
        </p:blipFill>
        <p:spPr>
          <a:xfrm>
            <a:off x="0" y="0"/>
            <a:ext cx="7559985" cy="2615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59985" cy="2615184"/>
          </a:xfrm>
          <a:prstGeom prst="rect">
            <a:avLst/>
          </a:prstGeom>
          <a:solidFill>
            <a:srgbClr val="3E2723">
              <a:alpha val="42000"/>
            </a:srgbClr>
          </a:solidFill>
          <a:ln w="6350">
            <a:solidFill>
              <a:srgbClr val="3E2723">
                <a:alpha val="0"/>
              </a:srgbClr>
            </a:solidFill>
            <a:prstDash val="solid"/>
          </a:ln>
        </p:spPr>
      </p:sp>
      <p:pic>
        <p:nvPicPr>
          <p:cNvPr id="4" name="Image 1" descr="/home/user/portfolio/portfolio-source/ange-hmg-home-logo-whi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393192"/>
            <a:ext cx="1892808" cy="61264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30352" y="15361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PIÈCE À IMAGINER ?</a:t>
            </a:r>
            <a:endParaRPr lang="en-US" sz="590" dirty="0"/>
          </a:p>
        </p:txBody>
      </p:sp>
      <p:sp>
        <p:nvSpPr>
          <p:cNvPr id="6" name="Text 2"/>
          <p:cNvSpPr txBox="1"/>
          <p:nvPr/>
        </p:nvSpPr>
        <p:spPr>
          <a:xfrm>
            <a:off x="530352" y="1883664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Parlons de votre prochaine allure.</a:t>
            </a:r>
            <a:endParaRPr lang="en-US" sz="2350" dirty="0"/>
          </a:p>
        </p:txBody>
      </p:sp>
      <p:sp>
        <p:nvSpPr>
          <p:cNvPr id="7" name="Shape 3"/>
          <p:cNvSpPr/>
          <p:nvPr/>
        </p:nvSpPr>
        <p:spPr>
          <a:xfrm>
            <a:off x="530352" y="3703320"/>
            <a:ext cx="6499281" cy="0"/>
          </a:xfrm>
          <a:prstGeom prst="line">
            <a:avLst/>
          </a:prstGeom>
          <a:noFill/>
          <a:ln w="10160">
            <a:solidFill>
              <a:srgbClr val="B68A5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30352" y="4160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ATELIER</a:t>
            </a:r>
            <a:endParaRPr lang="en-US" sz="590" dirty="0"/>
          </a:p>
        </p:txBody>
      </p:sp>
      <p:sp>
        <p:nvSpPr>
          <p:cNvPr id="9" name="Text 5"/>
          <p:cNvSpPr txBox="1"/>
          <p:nvPr/>
        </p:nvSpPr>
        <p:spPr>
          <a:xfrm>
            <a:off x="530352" y="45262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7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Tankpè, Abomey-Calavi · Bénin</a:t>
            </a:r>
            <a:endParaRPr lang="en-US" sz="1570" dirty="0"/>
          </a:p>
        </p:txBody>
      </p:sp>
      <p:sp>
        <p:nvSpPr>
          <p:cNvPr id="10" name="Text 6"/>
          <p:cNvSpPr txBox="1"/>
          <p:nvPr/>
        </p:nvSpPr>
        <p:spPr>
          <a:xfrm>
            <a:off x="530352" y="54041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590" dirty="0"/>
          </a:p>
        </p:txBody>
      </p:sp>
      <p:sp>
        <p:nvSpPr>
          <p:cNvPr id="11" name="Text 7"/>
          <p:cNvSpPr txBox="1"/>
          <p:nvPr/>
        </p:nvSpPr>
        <p:spPr>
          <a:xfrm>
            <a:off x="530352" y="57790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01 42 65 66 61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30352" y="6656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b="1" spc="16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RÉSEAUX</a:t>
            </a:r>
            <a:endParaRPr lang="en-US" sz="590" dirty="0"/>
          </a:p>
        </p:txBody>
      </p:sp>
      <p:sp>
        <p:nvSpPr>
          <p:cNvPr id="13" name="Text 9"/>
          <p:cNvSpPr txBox="1"/>
          <p:nvPr/>
        </p:nvSpPr>
        <p:spPr>
          <a:xfrm>
            <a:off x="530352" y="7031736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1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@Ange_hmg_home</a:t>
            </a:r>
            <a:endParaRPr lang="en-US" sz="181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7516368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30" spc="10" kern="0" dirty="0">
                <a:solidFill>
                  <a:srgbClr val="D8C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· Instagram</a:t>
            </a:r>
            <a:endParaRPr lang="en-US" sz="630" dirty="0"/>
          </a:p>
        </p:txBody>
      </p:sp>
      <p:sp>
        <p:nvSpPr>
          <p:cNvPr id="15" name="Shape 11"/>
          <p:cNvSpPr/>
          <p:nvPr/>
        </p:nvSpPr>
        <p:spPr>
          <a:xfrm>
            <a:off x="530352" y="8321040"/>
            <a:ext cx="6499281" cy="0"/>
          </a:xfrm>
          <a:prstGeom prst="line">
            <a:avLst/>
          </a:prstGeom>
          <a:noFill/>
          <a:ln w="6985">
            <a:solidFill>
              <a:srgbClr val="755C5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30352" y="86319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20" dirty="0">
                <a:solidFill>
                  <a:srgbClr val="E9D8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Héritier du fil, créateur de style.</a:t>
            </a:r>
            <a:endParaRPr lang="en-US" sz="1620" dirty="0"/>
          </a:p>
        </p:txBody>
      </p:sp>
      <p:sp>
        <p:nvSpPr>
          <p:cNvPr id="17" name="Text 13"/>
          <p:cNvSpPr txBox="1"/>
          <p:nvPr/>
        </p:nvSpPr>
        <p:spPr>
          <a:xfrm>
            <a:off x="6188385" y="92171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6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Merci.</a:t>
            </a:r>
            <a:endParaRPr lang="en-US" sz="1360" dirty="0"/>
          </a:p>
        </p:txBody>
      </p:sp>
      <p:sp>
        <p:nvSpPr>
          <p:cNvPr id="18" name="Text 14"/>
          <p:cNvSpPr txBox="1"/>
          <p:nvPr/>
        </p:nvSpPr>
        <p:spPr>
          <a:xfrm>
            <a:off x="6663873" y="99330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spc="110" kern="0" dirty="0">
                <a:solidFill>
                  <a:srgbClr val="E9D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ANGE HMG 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 HMG HOME — Dossier de marque officiel</dc:title>
  <dc:subject>Dossier de marque officiel</dc:subject>
  <dc:creator>HOUEMAGNON Ange-Marie Mahouna Coovi Pegaz Fidèl</dc:creator>
  <cp:lastModifiedBy>HOUEMAGNON Ange-Marie Mahouna Coovi Pegaz Fidèl</cp:lastModifiedBy>
  <cp:revision>1</cp:revision>
  <dcterms:created xsi:type="dcterms:W3CDTF">2026-10-05T00:35:29Z</dcterms:created>
  <dcterms:modified xsi:type="dcterms:W3CDTF">2026-10-05T00:35:29Z</dcterms:modified>
</cp:coreProperties>
</file>